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56936d6c9c64c4d" /><Relationship Type="http://schemas.openxmlformats.org/officeDocument/2006/relationships/extended-properties" Target="/docProps/app.xml" Id="Rcbb7f843a1214562" /><Relationship Type="http://schemas.openxmlformats.org/officeDocument/2006/relationships/officeDocument" Target="/ppt/presentation.xml" Id="Rd7f4da16f7be4a35" /></Relationships>
</file>

<file path=ppt/presentation.xml><?xml version="1.0" encoding="utf-8"?>
<p:presentation xmlns:p="http://schemas.openxmlformats.org/presentationml/2006/main">
  <p:sldMasterIdLst>
    <p:sldMasterId xmlns:r="http://schemas.openxmlformats.org/officeDocument/2006/relationships" id="2147483648" r:id="Rb8a4b763e0fd40b3"/>
  </p:sldMasterIdLst>
  <p:notesMasterIdLst>
    <p:notesMasterId xmlns:r="http://schemas.openxmlformats.org/officeDocument/2006/relationships" r:id="R7863bc6235a149a2"/>
  </p:notesMasterIdLst>
  <p:sldIdLst>
    <p:sldId xmlns:r="http://schemas.openxmlformats.org/officeDocument/2006/relationships" id="256" r:id="Rd9a9cae674ca4d17"/>
    <p:sldId xmlns:r="http://schemas.openxmlformats.org/officeDocument/2006/relationships" id="257" r:id="R7d0eb9ac059c4e04"/>
    <p:sldId xmlns:r="http://schemas.openxmlformats.org/officeDocument/2006/relationships" id="258" r:id="Rffdecb08b30b45f6"/>
    <p:sldId xmlns:r="http://schemas.openxmlformats.org/officeDocument/2006/relationships" id="259" r:id="R527e23c9fa744a0a"/>
    <p:sldId xmlns:r="http://schemas.openxmlformats.org/officeDocument/2006/relationships" id="260" r:id="R01389a80bf3d457c"/>
    <p:sldId xmlns:r="http://schemas.openxmlformats.org/officeDocument/2006/relationships" id="261" r:id="Rd5505935676841fd"/>
    <p:sldId xmlns:r="http://schemas.openxmlformats.org/officeDocument/2006/relationships" id="262" r:id="Rc7b28813677440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10b8e36c6f4f4e" /><Relationship Type="http://schemas.openxmlformats.org/officeDocument/2006/relationships/slideMaster" Target="/ppt/slideMasters/slideMaster1.xml" Id="Rb8a4b763e0fd40b3" /><Relationship Type="http://schemas.openxmlformats.org/officeDocument/2006/relationships/notesMaster" Target="/ppt/notesMasters/notesMaster1.xml" Id="R7863bc6235a149a2" /><Relationship Type="http://schemas.openxmlformats.org/officeDocument/2006/relationships/presProps" Target="/ppt/presProps.xml" Id="R85599f3338f345fe" /><Relationship Type="http://schemas.openxmlformats.org/officeDocument/2006/relationships/tableStyles" Target="/ppt/tableStyles.xml" Id="Ra21a7eff3f62492b" /><Relationship Type="http://schemas.openxmlformats.org/officeDocument/2006/relationships/slide" Target="/ppt/slides/slide1.xml" Id="Rd9a9cae674ca4d17" /><Relationship Type="http://schemas.openxmlformats.org/officeDocument/2006/relationships/slide" Target="/ppt/slides/slide2.xml" Id="R7d0eb9ac059c4e04" /><Relationship Type="http://schemas.openxmlformats.org/officeDocument/2006/relationships/slide" Target="/ppt/slides/slide3.xml" Id="Rffdecb08b30b45f6" /><Relationship Type="http://schemas.openxmlformats.org/officeDocument/2006/relationships/slide" Target="/ppt/slides/slide4.xml" Id="R527e23c9fa744a0a" /><Relationship Type="http://schemas.openxmlformats.org/officeDocument/2006/relationships/slide" Target="/ppt/slides/slide5.xml" Id="R01389a80bf3d457c" /><Relationship Type="http://schemas.openxmlformats.org/officeDocument/2006/relationships/slide" Target="/ppt/slides/slide6.xml" Id="Rd5505935676841fd" /><Relationship Type="http://schemas.openxmlformats.org/officeDocument/2006/relationships/slide" Target="/ppt/slides/slide7.xml" Id="Rc7b28813677440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22ff166c5e47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ee902eb07a4a7f" /><Relationship Type="http://schemas.openxmlformats.org/officeDocument/2006/relationships/notesMaster" Target="/ppt/notesMasters/notesMaster1.xml" Id="R7bd83d0cafa149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bfeb358ba54539" /><Relationship Type="http://schemas.openxmlformats.org/officeDocument/2006/relationships/notesMaster" Target="/ppt/notesMasters/notesMaster1.xml" Id="R4c1722b1bd0f43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e86f70f63e43ec" /><Relationship Type="http://schemas.openxmlformats.org/officeDocument/2006/relationships/notesMaster" Target="/ppt/notesMasters/notesMaster1.xml" Id="R5945fb6030224e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0b2cf665ac405f" /><Relationship Type="http://schemas.openxmlformats.org/officeDocument/2006/relationships/notesMaster" Target="/ppt/notesMasters/notesMaster1.xml" Id="R29e87f4f109742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797bf3e69644aa" /><Relationship Type="http://schemas.openxmlformats.org/officeDocument/2006/relationships/notesMaster" Target="/ppt/notesMasters/notesMaster1.xml" Id="R3e90656dd1bc4b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8b5da264ea4d11" /><Relationship Type="http://schemas.openxmlformats.org/officeDocument/2006/relationships/notesMaster" Target="/ppt/notesMasters/notesMaster1.xml" Id="Ra90dd903327549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26a3298b894c60" /><Relationship Type="http://schemas.openxmlformats.org/officeDocument/2006/relationships/notesMaster" Target="/ppt/notesMasters/notesMaster1.xml" Id="R1cc277a396ae47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deck summarises the full experiment recorded in report.md. Earlier pilot results are excluded from the final comparison. Sources: the Qwen and SmolLM2 official model cards, https://huggingface.co/Qwen/Qwen2.5-0.5B-Instruct and https://huggingface.co/HuggingFaceTB/SmolLM2-360M-Instruct.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News routing requires identifying the main event in a story, including ambiguous cases where technology companies appear in business news. AG News: https://huggingface.co/datasets/fancyzhx/ag_news. The full protocol and exact matching rule are in PROTOCOL.json and report.md. Uniform chance accuracy is 25% because the selected splits are balanced.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search: short 1-shot, short 4-shot, definitions 4-shot. Zero-shot is a separate development baseline. Fixed four-shot examples are balanced, with one per class. Learning rates: 1e-4 and 2e-4. LoRA: rank 8, alpha 16, dropout 0.05, q_proj/v_proj, 1 epoch, effective batch 8. See results/dev and selected.json. LoRA reference: https://arxiv.org/abs/2106.09685.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results/test/qwen_icl.json, qwen_lora.json, smol_icl.json and smol_lora.json. All predictions use the same fresh 400-item test sample. Wilson intervals, macro-F1 and per-class results are in report.md. Chart displays literal measured accuracies, not an estimate from loss.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SmolLM2 development data, 400 items and the same four fixed training examples. Source: results/dev/smol_icl_short_4.json, smol_icl_explicit_4.json and smol_icl_chat_4.json. Valid-output rate is 1 minus invalid-output rate; accuracy still requires the correct topic. The new formats were added during iterative validation development, before fresh-test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Hypothesis: related training examples improve classification versus fixed examples. TF-IDF uses only the 2,000 training texts, with unigram/bigram features and four nearest examples. The fixed and retrieved conditions use the same instruction style and same example count. Retrieved examples are not class-balanced. Source: results/test/*_extra_fixed.json and *_extra_retrieval.json.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recommendation is based on this test sample, not a general superiority claim. Check per-class recall, invalid output rate and paired errors before deployment. Reported seconds per item is batch throughput cost, excluding model loading. Adapter merging was not tested. The work used one training seed and older English news; possible pretraining contamination was not audited. See report.md for qualitative examples, paired tests and confidence intervals.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b050a338cd4b2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d05355a3c8433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2c0d2282b1404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8f2e680c2b48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a8b054cf934b2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47e0ac5b1bc41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B24D38-4621-4B25-AA6D-A693421CAD5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8F9B90-3026-40D4-9428-44887989B0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2FF9FA0-8C57-4A73-85D6-26AA0354A5C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7C2B1F-BEEA-4308-8659-1C6761F14A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B207D40-7C35-4E15-849F-1624F1912E6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A7D815-A943-4543-A711-0A7B833683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9C988D-B0F8-4D1D-B0DE-F47410F217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B3C4AF-9318-4813-83B2-329D2D5DEB4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208BE8-8A2E-4FA4-83E5-5FBC0EB6D4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4B33CA-F63D-471C-8D6F-07D3BA5E75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c01e8765ef49ed" /><Relationship Type="http://schemas.openxmlformats.org/officeDocument/2006/relationships/slideLayout" Target="/ppt/slideLayouts/slideLayout1.xml" Id="R317e0e64069e43a5" /><Relationship Type="http://schemas.openxmlformats.org/officeDocument/2006/relationships/slideLayout" Target="/ppt/slideLayouts/slideLayout2.xml" Id="R5f36a9c7948141e7" /><Relationship Type="http://schemas.openxmlformats.org/officeDocument/2006/relationships/slideLayout" Target="/ppt/slideLayouts/slideLayout3.xml" Id="R060cb2464d084c9b" /><Relationship Type="http://schemas.openxmlformats.org/officeDocument/2006/relationships/slideLayout" Target="/ppt/slideLayouts/slideLayout4.xml" Id="Ra7f1e1d023af48b7" /><Relationship Type="http://schemas.openxmlformats.org/officeDocument/2006/relationships/slideLayout" Target="/ppt/slideLayouts/slideLayout5.xml" Id="R0b19c77431534713" /><Relationship Type="http://schemas.openxmlformats.org/officeDocument/2006/relationships/slideLayout" Target="/ppt/slideLayouts/slideLayout6.xml" Id="Raa32195322e245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7e0e64069e43a5"/>
    <p:sldLayoutId xmlns:r="http://schemas.openxmlformats.org/officeDocument/2006/relationships" id="2147483650" r:id="R5f36a9c7948141e7"/>
    <p:sldLayoutId xmlns:r="http://schemas.openxmlformats.org/officeDocument/2006/relationships" id="2147483651" r:id="R060cb2464d084c9b"/>
    <p:sldLayoutId xmlns:r="http://schemas.openxmlformats.org/officeDocument/2006/relationships" id="2147483652" r:id="Ra7f1e1d023af48b7"/>
    <p:sldLayoutId xmlns:r="http://schemas.openxmlformats.org/officeDocument/2006/relationships" id="2147483653" r:id="R0b19c77431534713"/>
    <p:sldLayoutId xmlns:r="http://schemas.openxmlformats.org/officeDocument/2006/relationships" id="2147483654" r:id="Raa32195322e245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488c9dff8e54a7e" /><Relationship Type="http://schemas.openxmlformats.org/officeDocument/2006/relationships/notesSlide" Target="/ppt/notesSlides/notesSlide1.xml" Id="R774a2f87ba254f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bb64444eaa84e6b" /><Relationship Type="http://schemas.openxmlformats.org/officeDocument/2006/relationships/notesSlide" Target="/ppt/notesSlides/notesSlide2.xml" Id="R92ebdcce47f847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c4742d81ee9401c" /><Relationship Type="http://schemas.openxmlformats.org/officeDocument/2006/relationships/notesSlide" Target="/ppt/notesSlides/notesSlide3.xml" Id="Rab8bf033ef9d46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fcd881f24424930" /><Relationship Type="http://schemas.openxmlformats.org/officeDocument/2006/relationships/chart" Target="/ppt/slides/charts/chart1.xml" Id="R97c52766f08b4bdc" /><Relationship Type="http://schemas.openxmlformats.org/officeDocument/2006/relationships/notesSlide" Target="/ppt/notesSlides/notesSlide4.xml" Id="R602457ec123a42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4248408db64cb9" /><Relationship Type="http://schemas.openxmlformats.org/officeDocument/2006/relationships/chart" Target="/ppt/slides/charts/chart2.xml" Id="R66610e97c3aa4df8" /><Relationship Type="http://schemas.openxmlformats.org/officeDocument/2006/relationships/notesSlide" Target="/ppt/notesSlides/notesSlide5.xml" Id="R951c270b63684a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0749e1d0b448cf" /><Relationship Type="http://schemas.openxmlformats.org/officeDocument/2006/relationships/chart" Target="/ppt/slides/charts/chart3.xml" Id="Rb1e074a89fe04a00" /><Relationship Type="http://schemas.openxmlformats.org/officeDocument/2006/relationships/notesSlide" Target="/ppt/notesSlides/notesSlide6.xml" Id="R4c83b6980ea847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461032a5a6d4a7a" /><Relationship Type="http://schemas.openxmlformats.org/officeDocument/2006/relationships/notesSlide" Target="/ppt/notesSlides/notesSlide7.xml" Id="Rce57b82a31e9489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ICL</c:v>
          </c:tx>
          <c:spPr>
            <a:solidFill xmlns:a="http://schemas.openxmlformats.org/drawingml/2006/main">
              <a:srgbClr val="497AAB"/>
            </a:solidFill>
          </c:spPr>
          <c:invertIfNegative val="0"/>
          <c:cat>
            <c:strRef>
              <c:f>'Chart Data'!$A$2:$A$3</c:f>
              <c:strCache>
                <c:ptCount val="2"/>
                <c:pt idx="0">
                  <c:v>Qwen2.5 0.5B</c:v>
                </c:pt>
                <c:pt idx="1">
                  <c:v>SmolLM2 360M</c:v>
                </c:pt>
              </c:strCache>
            </c:strRef>
          </c:cat>
          <c:val>
            <c:numRef>
              <c:f>'Chart Data'!$B$2:$B$3</c:f>
              <c:numCache>
                <c:formatCode>0%</c:formatCode>
                <c:ptCount val="2"/>
                <c:pt idx="0">
                  <c:v>0.5725</c:v>
                </c:pt>
                <c:pt idx="1">
                  <c:v>0.2425</c:v>
                </c:pt>
              </c:numCache>
            </c:numRef>
          </c:val>
        </c:ser>
        <c:ser>
          <c:idx val="1"/>
          <c:order val="1"/>
          <c:tx>
            <c:v>LoRA</c:v>
          </c:tx>
          <c:spPr>
            <a:solidFill xmlns:a="http://schemas.openxmlformats.org/drawingml/2006/main">
              <a:srgbClr val="BD683B"/>
            </a:solidFill>
          </c:spPr>
          <c:invertIfNegative val="0"/>
          <c:cat>
            <c:strRef>
              <c:f>'Chart Data'!$C$2:$C$3</c:f>
              <c:strCache>
                <c:ptCount val="2"/>
                <c:pt idx="0">
                  <c:v>Qwen2.5 0.5B</c:v>
                </c:pt>
                <c:pt idx="1">
                  <c:v>SmolLM2 360M</c:v>
                </c:pt>
              </c:strCache>
            </c:strRef>
          </c:cat>
          <c:val>
            <c:numRef>
              <c:f>'Chart Data'!$D$2:$D$3</c:f>
              <c:numCache>
                <c:formatCode>0%</c:formatCode>
                <c:ptCount val="2"/>
                <c:pt idx="0">
                  <c:v>0.88</c:v>
                </c:pt>
                <c:pt idx="1">
                  <c:v>0.835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9E1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Valid output</c:v>
          </c:tx>
          <c:spPr>
            <a:solidFill xmlns:a="http://schemas.openxmlformats.org/drawingml/2006/main">
              <a:srgbClr val="497AAB"/>
            </a:solidFill>
          </c:spPr>
          <c:invertIfNegative val="0"/>
          <c:cat>
            <c:strRef>
              <c:f>'Chart Data'!$A$2:$A$4</c:f>
              <c:strCache>
                <c:ptCount val="3"/>
                <c:pt idx="0">
                  <c:v>Original 4-shot</c:v>
                </c:pt>
                <c:pt idx="1">
                  <c:v>Explicit 4-shot</c:v>
                </c:pt>
                <c:pt idx="2">
                  <c:v>Chat 4-shot</c:v>
                </c:pt>
              </c:strCache>
            </c:strRef>
          </c:cat>
          <c:val>
            <c:numRef>
              <c:f>'Chart Data'!$B$2:$B$4</c:f>
              <c:numCache>
                <c:formatCode>0%</c:formatCode>
                <c:ptCount val="3"/>
                <c:pt idx="0">
                  <c:v>0.005</c:v>
                </c:pt>
                <c:pt idx="1">
                  <c:v>0.9175</c:v>
                </c:pt>
                <c:pt idx="2">
                  <c:v>0.8825</c:v>
                </c:pt>
              </c:numCache>
            </c:numRef>
          </c:val>
        </c:ser>
        <c:ser>
          <c:idx val="1"/>
          <c:order val="1"/>
          <c:tx>
            <c:v>Correct topic</c:v>
          </c:tx>
          <c:spPr>
            <a:solidFill xmlns:a="http://schemas.openxmlformats.org/drawingml/2006/main">
              <a:srgbClr val="BD683B"/>
            </a:solidFill>
          </c:spPr>
          <c:invertIfNegative val="0"/>
          <c:cat>
            <c:strRef>
              <c:f>'Chart Data'!$C$2:$C$4</c:f>
              <c:strCache>
                <c:ptCount val="3"/>
                <c:pt idx="0">
                  <c:v>Original 4-shot</c:v>
                </c:pt>
                <c:pt idx="1">
                  <c:v>Explicit 4-shot</c:v>
                </c:pt>
                <c:pt idx="2">
                  <c:v>Chat 4-shot</c:v>
                </c:pt>
              </c:strCache>
            </c:strRef>
          </c:cat>
          <c:val>
            <c:numRef>
              <c:f>'Chart Data'!$D$2:$D$4</c:f>
              <c:numCache>
                <c:formatCode>0%</c:formatCode>
                <c:ptCount val="3"/>
                <c:pt idx="0">
                  <c:v>0.0025</c:v>
                </c:pt>
                <c:pt idx="1">
                  <c:v>0.245</c:v>
                </c:pt>
                <c:pt idx="2">
                  <c:v>0.2275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9E1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Fixed 4-shot</c:v>
          </c:tx>
          <c:spPr>
            <a:solidFill xmlns:a="http://schemas.openxmlformats.org/drawingml/2006/main">
              <a:srgbClr val="497AAB"/>
            </a:solidFill>
          </c:spPr>
          <c:invertIfNegative val="0"/>
          <c:cat>
            <c:strRef>
              <c:f>'Chart Data'!$A$2:$A$3</c:f>
              <c:strCache>
                <c:ptCount val="2"/>
                <c:pt idx="0">
                  <c:v>Qwen2.5 0.5B</c:v>
                </c:pt>
                <c:pt idx="1">
                  <c:v>SmolLM2 360M</c:v>
                </c:pt>
              </c:strCache>
            </c:strRef>
          </c:cat>
          <c:val>
            <c:numRef>
              <c:f>'Chart Data'!$B$2:$B$3</c:f>
              <c:numCache>
                <c:formatCode>0%</c:formatCode>
                <c:ptCount val="2"/>
                <c:pt idx="0">
                  <c:v>0.5725</c:v>
                </c:pt>
                <c:pt idx="1">
                  <c:v>0.2425</c:v>
                </c:pt>
              </c:numCache>
            </c:numRef>
          </c:val>
        </c:ser>
        <c:ser>
          <c:idx val="1"/>
          <c:order val="1"/>
          <c:tx>
            <c:v>Retrieved 4-shot</c:v>
          </c:tx>
          <c:spPr>
            <a:solidFill xmlns:a="http://schemas.openxmlformats.org/drawingml/2006/main">
              <a:srgbClr val="BD683B"/>
            </a:solidFill>
          </c:spPr>
          <c:invertIfNegative val="0"/>
          <c:cat>
            <c:strRef>
              <c:f>'Chart Data'!$C$2:$C$3</c:f>
              <c:strCache>
                <c:ptCount val="2"/>
                <c:pt idx="0">
                  <c:v>Qwen2.5 0.5B</c:v>
                </c:pt>
                <c:pt idx="1">
                  <c:v>SmolLM2 360M</c:v>
                </c:pt>
              </c:strCache>
            </c:strRef>
          </c:cat>
          <c:val>
            <c:numRef>
              <c:f>'Chart Data'!$D$2:$D$3</c:f>
              <c:numCache>
                <c:formatCode>0%</c:formatCode>
                <c:ptCount val="2"/>
                <c:pt idx="0">
                  <c:v>0.475</c:v>
                </c:pt>
                <c:pt idx="1">
                  <c:v>0.2825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9E1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B0CF30-43BD-4128-AE41-EDD75483D49F}"/>
              </a:ext>
            </a:extLst>
          </p:cNvPr>
          <p:cNvSpPr>
            <a:spLocks xmlns:a="http://schemas.openxmlformats.org/drawingml/2006/main" noGrp="1"/>
          </p:cNvSpPr>
          <p:nvPr/>
        </p:nvSpPr>
        <p:spPr>
          <a:xfrm xmlns:a="http://schemas.openxmlformats.org/drawingml/2006/main">
            <a:off x="714375" y="14287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75" b="1">
                <a:solidFill>
                  <a:srgbClr val="182D44"/>
                </a:solidFill>
                <a:latin typeface="Arial"/>
                <a:ea typeface="Arial"/>
                <a:cs typeface="Arial"/>
              </a:defRPr>
            </a:defPPr>
            <a:lvl1pPr>
              <a:defRPr sz="4875" b="1">
                <a:solidFill>
                  <a:srgbClr val="182D44"/>
                </a:solidFill>
                <a:latin typeface="Arial"/>
                <a:ea typeface="Arial"/>
                <a:cs typeface="Arial"/>
              </a:defRPr>
            </a:lvl1pPr>
            <a:lvl2pPr>
              <a:defRPr sz="4875" b="1">
                <a:solidFill>
                  <a:srgbClr val="182D44"/>
                </a:solidFill>
                <a:latin typeface="Arial"/>
                <a:ea typeface="Arial"/>
                <a:cs typeface="Arial"/>
              </a:defRPr>
            </a:lvl2pPr>
            <a:lvl3pPr>
              <a:defRPr sz="4875" b="1">
                <a:solidFill>
                  <a:srgbClr val="182D44"/>
                </a:solidFill>
                <a:latin typeface="Arial"/>
                <a:ea typeface="Arial"/>
                <a:cs typeface="Arial"/>
              </a:defRPr>
            </a:lvl3pPr>
            <a:lvl4pPr>
              <a:defRPr sz="4875" b="1">
                <a:solidFill>
                  <a:srgbClr val="182D44"/>
                </a:solidFill>
                <a:latin typeface="Arial"/>
                <a:ea typeface="Arial"/>
                <a:cs typeface="Arial"/>
              </a:defRPr>
            </a:lvl4pPr>
            <a:lvl5pPr>
              <a:defRPr sz="4875" b="1">
                <a:solidFill>
                  <a:srgbClr val="182D44"/>
                </a:solidFill>
                <a:latin typeface="Arial"/>
                <a:ea typeface="Arial"/>
                <a:cs typeface="Arial"/>
              </a:defRPr>
            </a:lvl5pPr>
            <a:lvl6pPr>
              <a:defRPr sz="4875" b="1">
                <a:solidFill>
                  <a:srgbClr val="182D44"/>
                </a:solidFill>
                <a:latin typeface="Arial"/>
                <a:ea typeface="Arial"/>
                <a:cs typeface="Arial"/>
              </a:defRPr>
            </a:lvl6pPr>
            <a:lvl7pPr>
              <a:defRPr sz="4875" b="1">
                <a:solidFill>
                  <a:srgbClr val="182D44"/>
                </a:solidFill>
                <a:latin typeface="Arial"/>
                <a:ea typeface="Arial"/>
                <a:cs typeface="Arial"/>
              </a:defRPr>
            </a:lvl7pPr>
            <a:lvl8pPr>
              <a:defRPr sz="4875" b="1">
                <a:solidFill>
                  <a:srgbClr val="182D44"/>
                </a:solidFill>
                <a:latin typeface="Arial"/>
                <a:ea typeface="Arial"/>
                <a:cs typeface="Arial"/>
              </a:defRPr>
            </a:lvl8pPr>
            <a:lvl9pPr>
              <a:defRPr sz="4875" b="1">
                <a:solidFill>
                  <a:srgbClr val="182D44"/>
                </a:solidFill>
                <a:latin typeface="Arial"/>
                <a:ea typeface="Arial"/>
                <a:cs typeface="Arial"/>
              </a:defRPr>
            </a:lvl9pPr>
          </a:lstStyle>
          <a:p xmlns:a="http://schemas.openxmlformats.org/drawingml/2006/main">
            <a:pPr>
              <a:defRPr sz="4875" b="1">
                <a:solidFill>
                  <a:srgbClr val="182D44"/>
                </a:solidFill>
                <a:latin typeface="Arial"/>
                <a:ea typeface="Arial"/>
                <a:cs typeface="Arial"/>
              </a:defRPr>
            </a:pPr>
            <a:r>
              <a:rPr sz="4875" b="1">
                <a:solidFill>
                  <a:srgbClr val="182D44"/>
                </a:solidFill>
                <a:latin typeface="Arial"/>
                <a:ea typeface="Arial"/>
                <a:cs typeface="Arial"/>
              </a:rPr>
              <a:t>News classification</a:t>
            </a:r>
          </a:p>
        </p:txBody>
      </p:sp>
      <p:sp>
        <p:nvSpPr>
          <p:cNvPr id="2" name="">
            <a:extLst xmlns:a="http://schemas.openxmlformats.org/drawingml/2006/main">
              <a:ext uri="{FF2B5EF4-FFF2-40B4-BE49-F238E27FC236}">
                <a16:creationId xmlns:a16="http://schemas.microsoft.com/office/drawing/2014/main" id="{4CB7B287-A696-450F-BFC1-51C7513D839A}"/>
              </a:ext>
            </a:extLst>
          </p:cNvPr>
          <p:cNvSpPr>
            <a:spLocks xmlns:a="http://schemas.openxmlformats.org/drawingml/2006/main" noGrp="1"/>
          </p:cNvSpPr>
          <p:nvPr/>
        </p:nvSpPr>
        <p:spPr>
          <a:xfrm xmlns:a="http://schemas.openxmlformats.org/drawingml/2006/main">
            <a:off x="742950" y="27146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182D44"/>
                </a:solidFill>
                <a:latin typeface="Arial"/>
                <a:ea typeface="Arial"/>
                <a:cs typeface="Arial"/>
              </a:defRPr>
            </a:defPPr>
            <a:lvl1pPr>
              <a:defRPr sz="3225" b="0">
                <a:solidFill>
                  <a:srgbClr val="182D44"/>
                </a:solidFill>
                <a:latin typeface="Arial"/>
                <a:ea typeface="Arial"/>
                <a:cs typeface="Arial"/>
              </a:defRPr>
            </a:lvl1pPr>
            <a:lvl2pPr>
              <a:defRPr sz="3225" b="0">
                <a:solidFill>
                  <a:srgbClr val="182D44"/>
                </a:solidFill>
                <a:latin typeface="Arial"/>
                <a:ea typeface="Arial"/>
                <a:cs typeface="Arial"/>
              </a:defRPr>
            </a:lvl2pPr>
            <a:lvl3pPr>
              <a:defRPr sz="3225" b="0">
                <a:solidFill>
                  <a:srgbClr val="182D44"/>
                </a:solidFill>
                <a:latin typeface="Arial"/>
                <a:ea typeface="Arial"/>
                <a:cs typeface="Arial"/>
              </a:defRPr>
            </a:lvl3pPr>
            <a:lvl4pPr>
              <a:defRPr sz="3225" b="0">
                <a:solidFill>
                  <a:srgbClr val="182D44"/>
                </a:solidFill>
                <a:latin typeface="Arial"/>
                <a:ea typeface="Arial"/>
                <a:cs typeface="Arial"/>
              </a:defRPr>
            </a:lvl4pPr>
            <a:lvl5pPr>
              <a:defRPr sz="3225" b="0">
                <a:solidFill>
                  <a:srgbClr val="182D44"/>
                </a:solidFill>
                <a:latin typeface="Arial"/>
                <a:ea typeface="Arial"/>
                <a:cs typeface="Arial"/>
              </a:defRPr>
            </a:lvl5pPr>
            <a:lvl6pPr>
              <a:defRPr sz="3225" b="0">
                <a:solidFill>
                  <a:srgbClr val="182D44"/>
                </a:solidFill>
                <a:latin typeface="Arial"/>
                <a:ea typeface="Arial"/>
                <a:cs typeface="Arial"/>
              </a:defRPr>
            </a:lvl6pPr>
            <a:lvl7pPr>
              <a:defRPr sz="3225" b="0">
                <a:solidFill>
                  <a:srgbClr val="182D44"/>
                </a:solidFill>
                <a:latin typeface="Arial"/>
                <a:ea typeface="Arial"/>
                <a:cs typeface="Arial"/>
              </a:defRPr>
            </a:lvl7pPr>
            <a:lvl8pPr>
              <a:defRPr sz="3225" b="0">
                <a:solidFill>
                  <a:srgbClr val="182D44"/>
                </a:solidFill>
                <a:latin typeface="Arial"/>
                <a:ea typeface="Arial"/>
                <a:cs typeface="Arial"/>
              </a:defRPr>
            </a:lvl8pPr>
            <a:lvl9pPr>
              <a:defRPr sz="3225" b="0">
                <a:solidFill>
                  <a:srgbClr val="182D44"/>
                </a:solidFill>
                <a:latin typeface="Arial"/>
                <a:ea typeface="Arial"/>
                <a:cs typeface="Arial"/>
              </a:defRPr>
            </a:lvl9pPr>
          </a:lstStyle>
          <a:p xmlns:a="http://schemas.openxmlformats.org/drawingml/2006/main">
            <a:pPr>
              <a:defRPr sz="3225" b="0">
                <a:solidFill>
                  <a:srgbClr val="182D44"/>
                </a:solidFill>
                <a:latin typeface="Arial"/>
                <a:ea typeface="Arial"/>
                <a:cs typeface="Arial"/>
              </a:defRPr>
            </a:pPr>
            <a:r>
              <a:rPr sz="3225" b="0">
                <a:solidFill>
                  <a:srgbClr val="182D44"/>
                </a:solidFill>
                <a:latin typeface="Arial"/>
                <a:ea typeface="Arial"/>
                <a:cs typeface="Arial"/>
              </a:rPr>
              <a:t>In-context examples and LoRA</a:t>
            </a:r>
          </a:p>
        </p:txBody>
      </p:sp>
      <p:sp>
        <p:nvSpPr>
          <p:cNvPr id="3" name="">
            <a:extLst xmlns:a="http://schemas.openxmlformats.org/drawingml/2006/main">
              <a:ext uri="{FF2B5EF4-FFF2-40B4-BE49-F238E27FC236}">
                <a16:creationId xmlns:a16="http://schemas.microsoft.com/office/drawing/2014/main" id="{8CF8BD4C-EFF9-4770-9CA4-B122B2D6DFB2}"/>
              </a:ext>
            </a:extLst>
          </p:cNvPr>
          <p:cNvSpPr>
            <a:spLocks xmlns:a="http://schemas.openxmlformats.org/drawingml/2006/main" noGrp="1"/>
          </p:cNvSpPr>
          <p:nvPr/>
        </p:nvSpPr>
        <p:spPr>
          <a:xfrm xmlns:a="http://schemas.openxmlformats.org/drawingml/2006/main">
            <a:off x="762000" y="41433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36679"/>
                </a:solidFill>
                <a:latin typeface="Arial"/>
                <a:ea typeface="Arial"/>
                <a:cs typeface="Arial"/>
              </a:defRPr>
            </a:defPPr>
            <a:lvl1pPr>
              <a:defRPr sz="2025" b="0">
                <a:solidFill>
                  <a:srgbClr val="536679"/>
                </a:solidFill>
                <a:latin typeface="Arial"/>
                <a:ea typeface="Arial"/>
                <a:cs typeface="Arial"/>
              </a:defRPr>
            </a:lvl1pPr>
            <a:lvl2pPr>
              <a:defRPr sz="2025" b="0">
                <a:solidFill>
                  <a:srgbClr val="536679"/>
                </a:solidFill>
                <a:latin typeface="Arial"/>
                <a:ea typeface="Arial"/>
                <a:cs typeface="Arial"/>
              </a:defRPr>
            </a:lvl2pPr>
            <a:lvl3pPr>
              <a:defRPr sz="2025" b="0">
                <a:solidFill>
                  <a:srgbClr val="536679"/>
                </a:solidFill>
                <a:latin typeface="Arial"/>
                <a:ea typeface="Arial"/>
                <a:cs typeface="Arial"/>
              </a:defRPr>
            </a:lvl3pPr>
            <a:lvl4pPr>
              <a:defRPr sz="2025" b="0">
                <a:solidFill>
                  <a:srgbClr val="536679"/>
                </a:solidFill>
                <a:latin typeface="Arial"/>
                <a:ea typeface="Arial"/>
                <a:cs typeface="Arial"/>
              </a:defRPr>
            </a:lvl4pPr>
            <a:lvl5pPr>
              <a:defRPr sz="2025" b="0">
                <a:solidFill>
                  <a:srgbClr val="536679"/>
                </a:solidFill>
                <a:latin typeface="Arial"/>
                <a:ea typeface="Arial"/>
                <a:cs typeface="Arial"/>
              </a:defRPr>
            </a:lvl5pPr>
            <a:lvl6pPr>
              <a:defRPr sz="2025" b="0">
                <a:solidFill>
                  <a:srgbClr val="536679"/>
                </a:solidFill>
                <a:latin typeface="Arial"/>
                <a:ea typeface="Arial"/>
                <a:cs typeface="Arial"/>
              </a:defRPr>
            </a:lvl6pPr>
            <a:lvl7pPr>
              <a:defRPr sz="2025" b="0">
                <a:solidFill>
                  <a:srgbClr val="536679"/>
                </a:solidFill>
                <a:latin typeface="Arial"/>
                <a:ea typeface="Arial"/>
                <a:cs typeface="Arial"/>
              </a:defRPr>
            </a:lvl7pPr>
            <a:lvl8pPr>
              <a:defRPr sz="2025" b="0">
                <a:solidFill>
                  <a:srgbClr val="536679"/>
                </a:solidFill>
                <a:latin typeface="Arial"/>
                <a:ea typeface="Arial"/>
                <a:cs typeface="Arial"/>
              </a:defRPr>
            </a:lvl8pPr>
            <a:lvl9pPr>
              <a:defRPr sz="2025" b="0">
                <a:solidFill>
                  <a:srgbClr val="536679"/>
                </a:solidFill>
                <a:latin typeface="Arial"/>
                <a:ea typeface="Arial"/>
                <a:cs typeface="Arial"/>
              </a:defRPr>
            </a:lvl9pPr>
          </a:lstStyle>
          <a:p xmlns:a="http://schemas.openxmlformats.org/drawingml/2006/main">
            <a:pPr>
              <a:defRPr sz="2025" b="0">
                <a:solidFill>
                  <a:srgbClr val="536679"/>
                </a:solidFill>
                <a:latin typeface="Arial"/>
                <a:ea typeface="Arial"/>
                <a:cs typeface="Arial"/>
              </a:defRPr>
            </a:pPr>
            <a:r>
              <a:rPr sz="2025" b="0">
                <a:solidFill>
                  <a:srgbClr val="536679"/>
                </a:solidFill>
                <a:latin typeface="Arial"/>
                <a:ea typeface="Arial"/>
                <a:cs typeface="Arial"/>
              </a:rPr>
              <a:t>Qwen2.5-0.5B-Instruct and SmolLM2-360M-Instruct</a:t>
            </a:r>
          </a:p>
        </p:txBody>
      </p:sp>
      <p:sp>
        <p:nvSpPr>
          <p:cNvPr id="4" name="">
            <a:extLst xmlns:a="http://schemas.openxmlformats.org/drawingml/2006/main">
              <a:ext uri="{FF2B5EF4-FFF2-40B4-BE49-F238E27FC236}">
                <a16:creationId xmlns:a16="http://schemas.microsoft.com/office/drawing/2014/main" id="{5229D837-165E-485B-8D30-EED6D8D983D0}"/>
              </a:ext>
            </a:extLst>
          </p:cNvPr>
          <p:cNvSpPr>
            <a:spLocks xmlns:a="http://schemas.openxmlformats.org/drawingml/2006/main" noGrp="1"/>
          </p:cNvSpPr>
          <p:nvPr/>
        </p:nvSpPr>
        <p:spPr>
          <a:xfrm xmlns:a="http://schemas.openxmlformats.org/drawingml/2006/main">
            <a:off x="762000" y="5381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679"/>
                </a:solidFill>
                <a:latin typeface="Arial"/>
                <a:ea typeface="Arial"/>
                <a:cs typeface="Arial"/>
              </a:defRPr>
            </a:defPPr>
            <a:lvl1pPr>
              <a:defRPr sz="1800" b="0">
                <a:solidFill>
                  <a:srgbClr val="536679"/>
                </a:solidFill>
                <a:latin typeface="Arial"/>
                <a:ea typeface="Arial"/>
                <a:cs typeface="Arial"/>
              </a:defRPr>
            </a:lvl1pPr>
            <a:lvl2pPr>
              <a:defRPr sz="1800" b="0">
                <a:solidFill>
                  <a:srgbClr val="536679"/>
                </a:solidFill>
                <a:latin typeface="Arial"/>
                <a:ea typeface="Arial"/>
                <a:cs typeface="Arial"/>
              </a:defRPr>
            </a:lvl2pPr>
            <a:lvl3pPr>
              <a:defRPr sz="1800" b="0">
                <a:solidFill>
                  <a:srgbClr val="536679"/>
                </a:solidFill>
                <a:latin typeface="Arial"/>
                <a:ea typeface="Arial"/>
                <a:cs typeface="Arial"/>
              </a:defRPr>
            </a:lvl3pPr>
            <a:lvl4pPr>
              <a:defRPr sz="1800" b="0">
                <a:solidFill>
                  <a:srgbClr val="536679"/>
                </a:solidFill>
                <a:latin typeface="Arial"/>
                <a:ea typeface="Arial"/>
                <a:cs typeface="Arial"/>
              </a:defRPr>
            </a:lvl4pPr>
            <a:lvl5pPr>
              <a:defRPr sz="1800" b="0">
                <a:solidFill>
                  <a:srgbClr val="536679"/>
                </a:solidFill>
                <a:latin typeface="Arial"/>
                <a:ea typeface="Arial"/>
                <a:cs typeface="Arial"/>
              </a:defRPr>
            </a:lvl5pPr>
            <a:lvl6pPr>
              <a:defRPr sz="1800" b="0">
                <a:solidFill>
                  <a:srgbClr val="536679"/>
                </a:solidFill>
                <a:latin typeface="Arial"/>
                <a:ea typeface="Arial"/>
                <a:cs typeface="Arial"/>
              </a:defRPr>
            </a:lvl6pPr>
            <a:lvl7pPr>
              <a:defRPr sz="1800" b="0">
                <a:solidFill>
                  <a:srgbClr val="536679"/>
                </a:solidFill>
                <a:latin typeface="Arial"/>
                <a:ea typeface="Arial"/>
                <a:cs typeface="Arial"/>
              </a:defRPr>
            </a:lvl7pPr>
            <a:lvl8pPr>
              <a:defRPr sz="1800" b="0">
                <a:solidFill>
                  <a:srgbClr val="536679"/>
                </a:solidFill>
                <a:latin typeface="Arial"/>
                <a:ea typeface="Arial"/>
                <a:cs typeface="Arial"/>
              </a:defRPr>
            </a:lvl8pPr>
            <a:lvl9pPr>
              <a:defRPr sz="1800" b="0">
                <a:solidFill>
                  <a:srgbClr val="536679"/>
                </a:solidFill>
                <a:latin typeface="Arial"/>
                <a:ea typeface="Arial"/>
                <a:cs typeface="Arial"/>
              </a:defRPr>
            </a:lvl9pPr>
          </a:lstStyle>
          <a:p xmlns:a="http://schemas.openxmlformats.org/drawingml/2006/main">
            <a:pPr>
              <a:defRPr sz="1800" b="0">
                <a:solidFill>
                  <a:srgbClr val="536679"/>
                </a:solidFill>
                <a:latin typeface="Arial"/>
                <a:ea typeface="Arial"/>
                <a:cs typeface="Arial"/>
              </a:defRPr>
            </a:pPr>
            <a:r>
              <a:rPr sz="1800" b="0">
                <a:solidFill>
                  <a:srgbClr val="536679"/>
                </a:solidFill>
                <a:latin typeface="Arial"/>
                <a:ea typeface="Arial"/>
                <a:cs typeface="Arial"/>
              </a:rPr>
              <a:t>CMU 11-667 mini-project implementation</a:t>
            </a:r>
          </a:p>
        </p:txBody>
      </p:sp>
    </p:spTree>
    <p:extLst>
      <p:ext uri="{BB962C8B-B14F-4D97-AF65-F5344CB8AC3E}">
        <p14:creationId xmlns:p14="http://schemas.microsoft.com/office/powerpoint/2010/main" val="2081941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A5AB37-5016-429E-AB69-2AD164421CAE}"/>
              </a:ext>
            </a:extLst>
          </p:cNvPr>
          <p:cNvSpPr>
            <a:spLocks xmlns:a="http://schemas.openxmlformats.org/drawingml/2006/main" noGrp="1"/>
          </p:cNvSpPr>
          <p:nvPr/>
        </p:nvSpPr>
        <p:spPr>
          <a:xfrm xmlns:a="http://schemas.openxmlformats.org/drawingml/2006/main">
            <a:off x="66675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2D44"/>
                </a:solidFill>
                <a:latin typeface="Arial"/>
                <a:ea typeface="Arial"/>
                <a:cs typeface="Arial"/>
              </a:defRPr>
            </a:defPPr>
            <a:lvl1pPr>
              <a:defRPr sz="3225" b="1">
                <a:solidFill>
                  <a:srgbClr val="182D44"/>
                </a:solidFill>
                <a:latin typeface="Arial"/>
                <a:ea typeface="Arial"/>
                <a:cs typeface="Arial"/>
              </a:defRPr>
            </a:lvl1pPr>
            <a:lvl2pPr>
              <a:defRPr sz="3225" b="1">
                <a:solidFill>
                  <a:srgbClr val="182D44"/>
                </a:solidFill>
                <a:latin typeface="Arial"/>
                <a:ea typeface="Arial"/>
                <a:cs typeface="Arial"/>
              </a:defRPr>
            </a:lvl2pPr>
            <a:lvl3pPr>
              <a:defRPr sz="3225" b="1">
                <a:solidFill>
                  <a:srgbClr val="182D44"/>
                </a:solidFill>
                <a:latin typeface="Arial"/>
                <a:ea typeface="Arial"/>
                <a:cs typeface="Arial"/>
              </a:defRPr>
            </a:lvl3pPr>
            <a:lvl4pPr>
              <a:defRPr sz="3225" b="1">
                <a:solidFill>
                  <a:srgbClr val="182D44"/>
                </a:solidFill>
                <a:latin typeface="Arial"/>
                <a:ea typeface="Arial"/>
                <a:cs typeface="Arial"/>
              </a:defRPr>
            </a:lvl4pPr>
            <a:lvl5pPr>
              <a:defRPr sz="3225" b="1">
                <a:solidFill>
                  <a:srgbClr val="182D44"/>
                </a:solidFill>
                <a:latin typeface="Arial"/>
                <a:ea typeface="Arial"/>
                <a:cs typeface="Arial"/>
              </a:defRPr>
            </a:lvl5pPr>
            <a:lvl6pPr>
              <a:defRPr sz="3225" b="1">
                <a:solidFill>
                  <a:srgbClr val="182D44"/>
                </a:solidFill>
                <a:latin typeface="Arial"/>
                <a:ea typeface="Arial"/>
                <a:cs typeface="Arial"/>
              </a:defRPr>
            </a:lvl6pPr>
            <a:lvl7pPr>
              <a:defRPr sz="3225" b="1">
                <a:solidFill>
                  <a:srgbClr val="182D44"/>
                </a:solidFill>
                <a:latin typeface="Arial"/>
                <a:ea typeface="Arial"/>
                <a:cs typeface="Arial"/>
              </a:defRPr>
            </a:lvl7pPr>
            <a:lvl8pPr>
              <a:defRPr sz="3225" b="1">
                <a:solidFill>
                  <a:srgbClr val="182D44"/>
                </a:solidFill>
                <a:latin typeface="Arial"/>
                <a:ea typeface="Arial"/>
                <a:cs typeface="Arial"/>
              </a:defRPr>
            </a:lvl8pPr>
            <a:lvl9pPr>
              <a:defRPr sz="3225" b="1">
                <a:solidFill>
                  <a:srgbClr val="182D44"/>
                </a:solidFill>
                <a:latin typeface="Arial"/>
                <a:ea typeface="Arial"/>
                <a:cs typeface="Arial"/>
              </a:defRPr>
            </a:lvl9pPr>
          </a:lstStyle>
          <a:p xmlns:a="http://schemas.openxmlformats.org/drawingml/2006/main">
            <a:pPr>
              <a:defRPr sz="3225" b="1">
                <a:solidFill>
                  <a:srgbClr val="182D44"/>
                </a:solidFill>
                <a:latin typeface="Arial"/>
                <a:ea typeface="Arial"/>
                <a:cs typeface="Arial"/>
              </a:defRPr>
            </a:pPr>
            <a:r>
              <a:rPr sz="3225" b="1">
                <a:solidFill>
                  <a:srgbClr val="182D44"/>
                </a:solidFill>
                <a:latin typeface="Arial"/>
                <a:ea typeface="Arial"/>
                <a:cs typeface="Arial"/>
              </a:rPr>
              <a:t>Task and evaluation</a:t>
            </a:r>
          </a:p>
        </p:txBody>
      </p:sp>
      <p:sp>
        <p:nvSpPr>
          <p:cNvPr id="2" name="">
            <a:extLst xmlns:a="http://schemas.openxmlformats.org/drawingml/2006/main">
              <a:ext uri="{FF2B5EF4-FFF2-40B4-BE49-F238E27FC236}">
                <a16:creationId xmlns:a16="http://schemas.microsoft.com/office/drawing/2014/main" id="{814C3C0C-BEA2-4835-8847-DDB8AFDE21C9}"/>
              </a:ext>
            </a:extLst>
          </p:cNvPr>
          <p:cNvSpPr>
            <a:spLocks xmlns:a="http://schemas.openxmlformats.org/drawingml/2006/main" noGrp="1"/>
          </p:cNvSpPr>
          <p:nvPr/>
        </p:nvSpPr>
        <p:spPr>
          <a:xfrm xmlns:a="http://schemas.openxmlformats.org/drawingml/2006/main">
            <a:off x="714375" y="15716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2D44"/>
                </a:solidFill>
                <a:latin typeface="Arial"/>
                <a:ea typeface="Arial"/>
                <a:cs typeface="Arial"/>
              </a:defRPr>
            </a:defPPr>
            <a:lvl1pPr>
              <a:defRPr sz="2325" b="0">
                <a:solidFill>
                  <a:srgbClr val="182D44"/>
                </a:solidFill>
                <a:latin typeface="Arial"/>
                <a:ea typeface="Arial"/>
                <a:cs typeface="Arial"/>
              </a:defRPr>
            </a:lvl1pPr>
            <a:lvl2pPr>
              <a:defRPr sz="2325" b="0">
                <a:solidFill>
                  <a:srgbClr val="182D44"/>
                </a:solidFill>
                <a:latin typeface="Arial"/>
                <a:ea typeface="Arial"/>
                <a:cs typeface="Arial"/>
              </a:defRPr>
            </a:lvl2pPr>
            <a:lvl3pPr>
              <a:defRPr sz="2325" b="0">
                <a:solidFill>
                  <a:srgbClr val="182D44"/>
                </a:solidFill>
                <a:latin typeface="Arial"/>
                <a:ea typeface="Arial"/>
                <a:cs typeface="Arial"/>
              </a:defRPr>
            </a:lvl3pPr>
            <a:lvl4pPr>
              <a:defRPr sz="2325" b="0">
                <a:solidFill>
                  <a:srgbClr val="182D44"/>
                </a:solidFill>
                <a:latin typeface="Arial"/>
                <a:ea typeface="Arial"/>
                <a:cs typeface="Arial"/>
              </a:defRPr>
            </a:lvl4pPr>
            <a:lvl5pPr>
              <a:defRPr sz="2325" b="0">
                <a:solidFill>
                  <a:srgbClr val="182D44"/>
                </a:solidFill>
                <a:latin typeface="Arial"/>
                <a:ea typeface="Arial"/>
                <a:cs typeface="Arial"/>
              </a:defRPr>
            </a:lvl5pPr>
            <a:lvl6pPr>
              <a:defRPr sz="2325" b="0">
                <a:solidFill>
                  <a:srgbClr val="182D44"/>
                </a:solidFill>
                <a:latin typeface="Arial"/>
                <a:ea typeface="Arial"/>
                <a:cs typeface="Arial"/>
              </a:defRPr>
            </a:lvl6pPr>
            <a:lvl7pPr>
              <a:defRPr sz="2325" b="0">
                <a:solidFill>
                  <a:srgbClr val="182D44"/>
                </a:solidFill>
                <a:latin typeface="Arial"/>
                <a:ea typeface="Arial"/>
                <a:cs typeface="Arial"/>
              </a:defRPr>
            </a:lvl7pPr>
            <a:lvl8pPr>
              <a:defRPr sz="2325" b="0">
                <a:solidFill>
                  <a:srgbClr val="182D44"/>
                </a:solidFill>
                <a:latin typeface="Arial"/>
                <a:ea typeface="Arial"/>
                <a:cs typeface="Arial"/>
              </a:defRPr>
            </a:lvl8pPr>
            <a:lvl9pPr>
              <a:defRPr sz="2325" b="0">
                <a:solidFill>
                  <a:srgbClr val="182D44"/>
                </a:solidFill>
                <a:latin typeface="Arial"/>
                <a:ea typeface="Arial"/>
                <a:cs typeface="Arial"/>
              </a:defRPr>
            </a:lvl9pPr>
          </a:lstStyle>
          <a:p xmlns:a="http://schemas.openxmlformats.org/drawingml/2006/main">
            <a:pPr>
              <a:defRPr sz="2325" b="0">
                <a:solidFill>
                  <a:srgbClr val="182D44"/>
                </a:solidFill>
                <a:latin typeface="Arial"/>
                <a:ea typeface="Arial"/>
                <a:cs typeface="Arial"/>
              </a:defRPr>
            </a:pPr>
            <a:r>
              <a:rPr sz="2325" b="0">
                <a:solidFill>
                  <a:srgbClr val="182D44"/>
                </a:solidFill>
                <a:latin typeface="Arial"/>
                <a:ea typeface="Arial"/>
                <a:cs typeface="Arial"/>
              </a:rPr>
              <a:t>Four labels: World, Sports, Business, Sci/Tech</a:t>
            </a:r>
          </a:p>
        </p:txBody>
      </p:sp>
      <p:sp>
        <p:nvSpPr>
          <p:cNvPr id="3" name="">
            <a:extLst xmlns:a="http://schemas.openxmlformats.org/drawingml/2006/main">
              <a:ext uri="{FF2B5EF4-FFF2-40B4-BE49-F238E27FC236}">
                <a16:creationId xmlns:a16="http://schemas.microsoft.com/office/drawing/2014/main" id="{05335F23-C2ED-4783-B212-1FA40103C742}"/>
              </a:ext>
            </a:extLst>
          </p:cNvPr>
          <p:cNvSpPr>
            <a:spLocks xmlns:a="http://schemas.openxmlformats.org/drawingml/2006/main" noGrp="1"/>
          </p:cNvSpPr>
          <p:nvPr/>
        </p:nvSpPr>
        <p:spPr>
          <a:xfrm xmlns:a="http://schemas.openxmlformats.org/drawingml/2006/main">
            <a:off x="714375" y="2524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2D44"/>
                </a:solidFill>
                <a:latin typeface="Arial"/>
                <a:ea typeface="Arial"/>
                <a:cs typeface="Arial"/>
              </a:defRPr>
            </a:defPPr>
            <a:lvl1pPr>
              <a:defRPr sz="2325" b="0">
                <a:solidFill>
                  <a:srgbClr val="182D44"/>
                </a:solidFill>
                <a:latin typeface="Arial"/>
                <a:ea typeface="Arial"/>
                <a:cs typeface="Arial"/>
              </a:defRPr>
            </a:lvl1pPr>
            <a:lvl2pPr>
              <a:defRPr sz="2325" b="0">
                <a:solidFill>
                  <a:srgbClr val="182D44"/>
                </a:solidFill>
                <a:latin typeface="Arial"/>
                <a:ea typeface="Arial"/>
                <a:cs typeface="Arial"/>
              </a:defRPr>
            </a:lvl2pPr>
            <a:lvl3pPr>
              <a:defRPr sz="2325" b="0">
                <a:solidFill>
                  <a:srgbClr val="182D44"/>
                </a:solidFill>
                <a:latin typeface="Arial"/>
                <a:ea typeface="Arial"/>
                <a:cs typeface="Arial"/>
              </a:defRPr>
            </a:lvl3pPr>
            <a:lvl4pPr>
              <a:defRPr sz="2325" b="0">
                <a:solidFill>
                  <a:srgbClr val="182D44"/>
                </a:solidFill>
                <a:latin typeface="Arial"/>
                <a:ea typeface="Arial"/>
                <a:cs typeface="Arial"/>
              </a:defRPr>
            </a:lvl4pPr>
            <a:lvl5pPr>
              <a:defRPr sz="2325" b="0">
                <a:solidFill>
                  <a:srgbClr val="182D44"/>
                </a:solidFill>
                <a:latin typeface="Arial"/>
                <a:ea typeface="Arial"/>
                <a:cs typeface="Arial"/>
              </a:defRPr>
            </a:lvl5pPr>
            <a:lvl6pPr>
              <a:defRPr sz="2325" b="0">
                <a:solidFill>
                  <a:srgbClr val="182D44"/>
                </a:solidFill>
                <a:latin typeface="Arial"/>
                <a:ea typeface="Arial"/>
                <a:cs typeface="Arial"/>
              </a:defRPr>
            </a:lvl6pPr>
            <a:lvl7pPr>
              <a:defRPr sz="2325" b="0">
                <a:solidFill>
                  <a:srgbClr val="182D44"/>
                </a:solidFill>
                <a:latin typeface="Arial"/>
                <a:ea typeface="Arial"/>
                <a:cs typeface="Arial"/>
              </a:defRPr>
            </a:lvl7pPr>
            <a:lvl8pPr>
              <a:defRPr sz="2325" b="0">
                <a:solidFill>
                  <a:srgbClr val="182D44"/>
                </a:solidFill>
                <a:latin typeface="Arial"/>
                <a:ea typeface="Arial"/>
                <a:cs typeface="Arial"/>
              </a:defRPr>
            </a:lvl8pPr>
            <a:lvl9pPr>
              <a:defRPr sz="2325" b="0">
                <a:solidFill>
                  <a:srgbClr val="182D44"/>
                </a:solidFill>
                <a:latin typeface="Arial"/>
                <a:ea typeface="Arial"/>
                <a:cs typeface="Arial"/>
              </a:defRPr>
            </a:lvl9pPr>
          </a:lstStyle>
          <a:p xmlns:a="http://schemas.openxmlformats.org/drawingml/2006/main">
            <a:pPr>
              <a:defRPr sz="2325" b="0">
                <a:solidFill>
                  <a:srgbClr val="182D44"/>
                </a:solidFill>
                <a:latin typeface="Arial"/>
                <a:ea typeface="Arial"/>
                <a:cs typeface="Arial"/>
              </a:defRPr>
            </a:pPr>
            <a:r>
              <a:rPr sz="2325" b="0">
                <a:solidFill>
                  <a:srgbClr val="182D44"/>
                </a:solidFill>
                <a:latin typeface="Arial"/>
                <a:ea typeface="Arial"/>
                <a:cs typeface="Arial"/>
              </a:rPr>
              <a:t>2,000 train, 400 development, 400 fresh test items</a:t>
            </a:r>
          </a:p>
        </p:txBody>
      </p:sp>
      <p:sp>
        <p:nvSpPr>
          <p:cNvPr id="4" name="">
            <a:extLst xmlns:a="http://schemas.openxmlformats.org/drawingml/2006/main">
              <a:ext uri="{FF2B5EF4-FFF2-40B4-BE49-F238E27FC236}">
                <a16:creationId xmlns:a16="http://schemas.microsoft.com/office/drawing/2014/main" id="{4D02F9DD-B6B2-40A3-8DA7-A38451E6CA4F}"/>
              </a:ext>
            </a:extLst>
          </p:cNvPr>
          <p:cNvSpPr>
            <a:spLocks xmlns:a="http://schemas.openxmlformats.org/drawingml/2006/main" noGrp="1"/>
          </p:cNvSpPr>
          <p:nvPr/>
        </p:nvSpPr>
        <p:spPr>
          <a:xfrm xmlns:a="http://schemas.openxmlformats.org/drawingml/2006/main">
            <a:off x="714375" y="34766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2D44"/>
                </a:solidFill>
                <a:latin typeface="Arial"/>
                <a:ea typeface="Arial"/>
                <a:cs typeface="Arial"/>
              </a:defRPr>
            </a:defPPr>
            <a:lvl1pPr>
              <a:defRPr sz="2325" b="0">
                <a:solidFill>
                  <a:srgbClr val="182D44"/>
                </a:solidFill>
                <a:latin typeface="Arial"/>
                <a:ea typeface="Arial"/>
                <a:cs typeface="Arial"/>
              </a:defRPr>
            </a:lvl1pPr>
            <a:lvl2pPr>
              <a:defRPr sz="2325" b="0">
                <a:solidFill>
                  <a:srgbClr val="182D44"/>
                </a:solidFill>
                <a:latin typeface="Arial"/>
                <a:ea typeface="Arial"/>
                <a:cs typeface="Arial"/>
              </a:defRPr>
            </a:lvl2pPr>
            <a:lvl3pPr>
              <a:defRPr sz="2325" b="0">
                <a:solidFill>
                  <a:srgbClr val="182D44"/>
                </a:solidFill>
                <a:latin typeface="Arial"/>
                <a:ea typeface="Arial"/>
                <a:cs typeface="Arial"/>
              </a:defRPr>
            </a:lvl3pPr>
            <a:lvl4pPr>
              <a:defRPr sz="2325" b="0">
                <a:solidFill>
                  <a:srgbClr val="182D44"/>
                </a:solidFill>
                <a:latin typeface="Arial"/>
                <a:ea typeface="Arial"/>
                <a:cs typeface="Arial"/>
              </a:defRPr>
            </a:lvl4pPr>
            <a:lvl5pPr>
              <a:defRPr sz="2325" b="0">
                <a:solidFill>
                  <a:srgbClr val="182D44"/>
                </a:solidFill>
                <a:latin typeface="Arial"/>
                <a:ea typeface="Arial"/>
                <a:cs typeface="Arial"/>
              </a:defRPr>
            </a:lvl5pPr>
            <a:lvl6pPr>
              <a:defRPr sz="2325" b="0">
                <a:solidFill>
                  <a:srgbClr val="182D44"/>
                </a:solidFill>
                <a:latin typeface="Arial"/>
                <a:ea typeface="Arial"/>
                <a:cs typeface="Arial"/>
              </a:defRPr>
            </a:lvl6pPr>
            <a:lvl7pPr>
              <a:defRPr sz="2325" b="0">
                <a:solidFill>
                  <a:srgbClr val="182D44"/>
                </a:solidFill>
                <a:latin typeface="Arial"/>
                <a:ea typeface="Arial"/>
                <a:cs typeface="Arial"/>
              </a:defRPr>
            </a:lvl7pPr>
            <a:lvl8pPr>
              <a:defRPr sz="2325" b="0">
                <a:solidFill>
                  <a:srgbClr val="182D44"/>
                </a:solidFill>
                <a:latin typeface="Arial"/>
                <a:ea typeface="Arial"/>
                <a:cs typeface="Arial"/>
              </a:defRPr>
            </a:lvl8pPr>
            <a:lvl9pPr>
              <a:defRPr sz="2325" b="0">
                <a:solidFill>
                  <a:srgbClr val="182D44"/>
                </a:solidFill>
                <a:latin typeface="Arial"/>
                <a:ea typeface="Arial"/>
                <a:cs typeface="Arial"/>
              </a:defRPr>
            </a:lvl9pPr>
          </a:lstStyle>
          <a:p xmlns:a="http://schemas.openxmlformats.org/drawingml/2006/main">
            <a:pPr>
              <a:defRPr sz="2325" b="0">
                <a:solidFill>
                  <a:srgbClr val="182D44"/>
                </a:solidFill>
                <a:latin typeface="Arial"/>
                <a:ea typeface="Arial"/>
                <a:cs typeface="Arial"/>
              </a:defRPr>
            </a:pPr>
            <a:r>
              <a:rPr sz="2325" b="0">
                <a:solidFill>
                  <a:srgbClr val="182D44"/>
                </a:solidFill>
                <a:latin typeface="Arial"/>
                <a:ea typeface="Arial"/>
                <a:cs typeface="Arial"/>
              </a:rPr>
              <a:t>Generate one category name. Extra text counts as an error.</a:t>
            </a:r>
          </a:p>
        </p:txBody>
      </p:sp>
      <p:sp>
        <p:nvSpPr>
          <p:cNvPr id="5" name="">
            <a:extLst xmlns:a="http://schemas.openxmlformats.org/drawingml/2006/main">
              <a:ext uri="{FF2B5EF4-FFF2-40B4-BE49-F238E27FC236}">
                <a16:creationId xmlns:a16="http://schemas.microsoft.com/office/drawing/2014/main" id="{FC4DAE0D-5401-4A67-BD8A-5C137B94C4E1}"/>
              </a:ext>
            </a:extLst>
          </p:cNvPr>
          <p:cNvSpPr>
            <a:spLocks xmlns:a="http://schemas.openxmlformats.org/drawingml/2006/main" noGrp="1"/>
          </p:cNvSpPr>
          <p:nvPr/>
        </p:nvSpPr>
        <p:spPr>
          <a:xfrm xmlns:a="http://schemas.openxmlformats.org/drawingml/2006/main">
            <a:off x="714375" y="4429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2D44"/>
                </a:solidFill>
                <a:latin typeface="Arial"/>
                <a:ea typeface="Arial"/>
                <a:cs typeface="Arial"/>
              </a:defRPr>
            </a:defPPr>
            <a:lvl1pPr>
              <a:defRPr sz="2325" b="0">
                <a:solidFill>
                  <a:srgbClr val="182D44"/>
                </a:solidFill>
                <a:latin typeface="Arial"/>
                <a:ea typeface="Arial"/>
                <a:cs typeface="Arial"/>
              </a:defRPr>
            </a:lvl1pPr>
            <a:lvl2pPr>
              <a:defRPr sz="2325" b="0">
                <a:solidFill>
                  <a:srgbClr val="182D44"/>
                </a:solidFill>
                <a:latin typeface="Arial"/>
                <a:ea typeface="Arial"/>
                <a:cs typeface="Arial"/>
              </a:defRPr>
            </a:lvl2pPr>
            <a:lvl3pPr>
              <a:defRPr sz="2325" b="0">
                <a:solidFill>
                  <a:srgbClr val="182D44"/>
                </a:solidFill>
                <a:latin typeface="Arial"/>
                <a:ea typeface="Arial"/>
                <a:cs typeface="Arial"/>
              </a:defRPr>
            </a:lvl3pPr>
            <a:lvl4pPr>
              <a:defRPr sz="2325" b="0">
                <a:solidFill>
                  <a:srgbClr val="182D44"/>
                </a:solidFill>
                <a:latin typeface="Arial"/>
                <a:ea typeface="Arial"/>
                <a:cs typeface="Arial"/>
              </a:defRPr>
            </a:lvl4pPr>
            <a:lvl5pPr>
              <a:defRPr sz="2325" b="0">
                <a:solidFill>
                  <a:srgbClr val="182D44"/>
                </a:solidFill>
                <a:latin typeface="Arial"/>
                <a:ea typeface="Arial"/>
                <a:cs typeface="Arial"/>
              </a:defRPr>
            </a:lvl5pPr>
            <a:lvl6pPr>
              <a:defRPr sz="2325" b="0">
                <a:solidFill>
                  <a:srgbClr val="182D44"/>
                </a:solidFill>
                <a:latin typeface="Arial"/>
                <a:ea typeface="Arial"/>
                <a:cs typeface="Arial"/>
              </a:defRPr>
            </a:lvl6pPr>
            <a:lvl7pPr>
              <a:defRPr sz="2325" b="0">
                <a:solidFill>
                  <a:srgbClr val="182D44"/>
                </a:solidFill>
                <a:latin typeface="Arial"/>
                <a:ea typeface="Arial"/>
                <a:cs typeface="Arial"/>
              </a:defRPr>
            </a:lvl7pPr>
            <a:lvl8pPr>
              <a:defRPr sz="2325" b="0">
                <a:solidFill>
                  <a:srgbClr val="182D44"/>
                </a:solidFill>
                <a:latin typeface="Arial"/>
                <a:ea typeface="Arial"/>
                <a:cs typeface="Arial"/>
              </a:defRPr>
            </a:lvl8pPr>
            <a:lvl9pPr>
              <a:defRPr sz="2325" b="0">
                <a:solidFill>
                  <a:srgbClr val="182D44"/>
                </a:solidFill>
                <a:latin typeface="Arial"/>
                <a:ea typeface="Arial"/>
                <a:cs typeface="Arial"/>
              </a:defRPr>
            </a:lvl9pPr>
          </a:lstStyle>
          <a:p xmlns:a="http://schemas.openxmlformats.org/drawingml/2006/main">
            <a:pPr>
              <a:defRPr sz="2325" b="0">
                <a:solidFill>
                  <a:srgbClr val="182D44"/>
                </a:solidFill>
                <a:latin typeface="Arial"/>
                <a:ea typeface="Arial"/>
                <a:cs typeface="Arial"/>
              </a:defRPr>
            </a:pPr>
            <a:r>
              <a:rPr sz="2325" b="0">
                <a:solidFill>
                  <a:srgbClr val="182D44"/>
                </a:solidFill>
                <a:latin typeface="Arial"/>
                <a:ea typeface="Arial"/>
                <a:cs typeface="Arial"/>
              </a:rPr>
              <a:t>Select settings on development data, then freeze them.</a:t>
            </a:r>
          </a:p>
        </p:txBody>
      </p:sp>
      <p:sp>
        <p:nvSpPr>
          <p:cNvPr id="6" name="">
            <a:extLst xmlns:a="http://schemas.openxmlformats.org/drawingml/2006/main">
              <a:ext uri="{FF2B5EF4-FFF2-40B4-BE49-F238E27FC236}">
                <a16:creationId xmlns:a16="http://schemas.microsoft.com/office/drawing/2014/main" id="{90846843-9723-4E5F-A74E-FCAD7E30D204}"/>
              </a:ext>
            </a:extLst>
          </p:cNvPr>
          <p:cNvSpPr>
            <a:spLocks xmlns:a="http://schemas.openxmlformats.org/drawingml/2006/main" noGrp="1"/>
          </p:cNvSpPr>
          <p:nvPr/>
        </p:nvSpPr>
        <p:spPr>
          <a:xfrm xmlns:a="http://schemas.openxmlformats.org/drawingml/2006/main">
            <a:off x="762000" y="5810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679"/>
                </a:solidFill>
                <a:latin typeface="Arial"/>
                <a:ea typeface="Arial"/>
                <a:cs typeface="Arial"/>
              </a:defRPr>
            </a:defPPr>
            <a:lvl1pPr>
              <a:defRPr sz="1725" b="0">
                <a:solidFill>
                  <a:srgbClr val="536679"/>
                </a:solidFill>
                <a:latin typeface="Arial"/>
                <a:ea typeface="Arial"/>
                <a:cs typeface="Arial"/>
              </a:defRPr>
            </a:lvl1pPr>
            <a:lvl2pPr>
              <a:defRPr sz="1725" b="0">
                <a:solidFill>
                  <a:srgbClr val="536679"/>
                </a:solidFill>
                <a:latin typeface="Arial"/>
                <a:ea typeface="Arial"/>
                <a:cs typeface="Arial"/>
              </a:defRPr>
            </a:lvl2pPr>
            <a:lvl3pPr>
              <a:defRPr sz="1725" b="0">
                <a:solidFill>
                  <a:srgbClr val="536679"/>
                </a:solidFill>
                <a:latin typeface="Arial"/>
                <a:ea typeface="Arial"/>
                <a:cs typeface="Arial"/>
              </a:defRPr>
            </a:lvl3pPr>
            <a:lvl4pPr>
              <a:defRPr sz="1725" b="0">
                <a:solidFill>
                  <a:srgbClr val="536679"/>
                </a:solidFill>
                <a:latin typeface="Arial"/>
                <a:ea typeface="Arial"/>
                <a:cs typeface="Arial"/>
              </a:defRPr>
            </a:lvl4pPr>
            <a:lvl5pPr>
              <a:defRPr sz="1725" b="0">
                <a:solidFill>
                  <a:srgbClr val="536679"/>
                </a:solidFill>
                <a:latin typeface="Arial"/>
                <a:ea typeface="Arial"/>
                <a:cs typeface="Arial"/>
              </a:defRPr>
            </a:lvl5pPr>
            <a:lvl6pPr>
              <a:defRPr sz="1725" b="0">
                <a:solidFill>
                  <a:srgbClr val="536679"/>
                </a:solidFill>
                <a:latin typeface="Arial"/>
                <a:ea typeface="Arial"/>
                <a:cs typeface="Arial"/>
              </a:defRPr>
            </a:lvl6pPr>
            <a:lvl7pPr>
              <a:defRPr sz="1725" b="0">
                <a:solidFill>
                  <a:srgbClr val="536679"/>
                </a:solidFill>
                <a:latin typeface="Arial"/>
                <a:ea typeface="Arial"/>
                <a:cs typeface="Arial"/>
              </a:defRPr>
            </a:lvl7pPr>
            <a:lvl8pPr>
              <a:defRPr sz="1725" b="0">
                <a:solidFill>
                  <a:srgbClr val="536679"/>
                </a:solidFill>
                <a:latin typeface="Arial"/>
                <a:ea typeface="Arial"/>
                <a:cs typeface="Arial"/>
              </a:defRPr>
            </a:lvl8pPr>
            <a:lvl9pPr>
              <a:defRPr sz="1725" b="0">
                <a:solidFill>
                  <a:srgbClr val="536679"/>
                </a:solidFill>
                <a:latin typeface="Arial"/>
                <a:ea typeface="Arial"/>
                <a:cs typeface="Arial"/>
              </a:defRPr>
            </a:lvl9pPr>
          </a:lstStyle>
          <a:p xmlns:a="http://schemas.openxmlformats.org/drawingml/2006/main">
            <a:pPr>
              <a:defRPr sz="1725" b="0">
                <a:solidFill>
                  <a:srgbClr val="536679"/>
                </a:solidFill>
                <a:latin typeface="Arial"/>
                <a:ea typeface="Arial"/>
                <a:cs typeface="Arial"/>
              </a:defRPr>
            </a:pPr>
            <a:r>
              <a:rPr sz="1725" b="0">
                <a:solidFill>
                  <a:srgbClr val="536679"/>
                </a:solidFill>
                <a:latin typeface="Arial"/>
                <a:ea typeface="Arial"/>
                <a:cs typeface="Arial"/>
              </a:rPr>
              <a:t>The fresh test excludes all 400 items used in the earlier pilot.</a:t>
            </a:r>
          </a:p>
        </p:txBody>
      </p:sp>
    </p:spTree>
    <p:extLst>
      <p:ext uri="{BB962C8B-B14F-4D97-AF65-F5344CB8AC3E}">
        <p14:creationId xmlns:p14="http://schemas.microsoft.com/office/powerpoint/2010/main" val="7142020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7D6FD1-97C8-4AF8-830D-64870F9E5DF4}"/>
              </a:ext>
            </a:extLst>
          </p:cNvPr>
          <p:cNvSpPr>
            <a:spLocks xmlns:a="http://schemas.openxmlformats.org/drawingml/2006/main" noGrp="1"/>
          </p:cNvSpPr>
          <p:nvPr/>
        </p:nvSpPr>
        <p:spPr>
          <a:xfrm xmlns:a="http://schemas.openxmlformats.org/drawingml/2006/main">
            <a:off x="66675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2D44"/>
                </a:solidFill>
                <a:latin typeface="Arial"/>
                <a:ea typeface="Arial"/>
                <a:cs typeface="Arial"/>
              </a:defRPr>
            </a:defPPr>
            <a:lvl1pPr>
              <a:defRPr sz="3225" b="1">
                <a:solidFill>
                  <a:srgbClr val="182D44"/>
                </a:solidFill>
                <a:latin typeface="Arial"/>
                <a:ea typeface="Arial"/>
                <a:cs typeface="Arial"/>
              </a:defRPr>
            </a:lvl1pPr>
            <a:lvl2pPr>
              <a:defRPr sz="3225" b="1">
                <a:solidFill>
                  <a:srgbClr val="182D44"/>
                </a:solidFill>
                <a:latin typeface="Arial"/>
                <a:ea typeface="Arial"/>
                <a:cs typeface="Arial"/>
              </a:defRPr>
            </a:lvl2pPr>
            <a:lvl3pPr>
              <a:defRPr sz="3225" b="1">
                <a:solidFill>
                  <a:srgbClr val="182D44"/>
                </a:solidFill>
                <a:latin typeface="Arial"/>
                <a:ea typeface="Arial"/>
                <a:cs typeface="Arial"/>
              </a:defRPr>
            </a:lvl3pPr>
            <a:lvl4pPr>
              <a:defRPr sz="3225" b="1">
                <a:solidFill>
                  <a:srgbClr val="182D44"/>
                </a:solidFill>
                <a:latin typeface="Arial"/>
                <a:ea typeface="Arial"/>
                <a:cs typeface="Arial"/>
              </a:defRPr>
            </a:lvl4pPr>
            <a:lvl5pPr>
              <a:defRPr sz="3225" b="1">
                <a:solidFill>
                  <a:srgbClr val="182D44"/>
                </a:solidFill>
                <a:latin typeface="Arial"/>
                <a:ea typeface="Arial"/>
                <a:cs typeface="Arial"/>
              </a:defRPr>
            </a:lvl5pPr>
            <a:lvl6pPr>
              <a:defRPr sz="3225" b="1">
                <a:solidFill>
                  <a:srgbClr val="182D44"/>
                </a:solidFill>
                <a:latin typeface="Arial"/>
                <a:ea typeface="Arial"/>
                <a:cs typeface="Arial"/>
              </a:defRPr>
            </a:lvl6pPr>
            <a:lvl7pPr>
              <a:defRPr sz="3225" b="1">
                <a:solidFill>
                  <a:srgbClr val="182D44"/>
                </a:solidFill>
                <a:latin typeface="Arial"/>
                <a:ea typeface="Arial"/>
                <a:cs typeface="Arial"/>
              </a:defRPr>
            </a:lvl7pPr>
            <a:lvl8pPr>
              <a:defRPr sz="3225" b="1">
                <a:solidFill>
                  <a:srgbClr val="182D44"/>
                </a:solidFill>
                <a:latin typeface="Arial"/>
                <a:ea typeface="Arial"/>
                <a:cs typeface="Arial"/>
              </a:defRPr>
            </a:lvl8pPr>
            <a:lvl9pPr>
              <a:defRPr sz="3225" b="1">
                <a:solidFill>
                  <a:srgbClr val="182D44"/>
                </a:solidFill>
                <a:latin typeface="Arial"/>
                <a:ea typeface="Arial"/>
                <a:cs typeface="Arial"/>
              </a:defRPr>
            </a:lvl9pPr>
          </a:lstStyle>
          <a:p xmlns:a="http://schemas.openxmlformats.org/drawingml/2006/main">
            <a:pPr>
              <a:defRPr sz="3225" b="1">
                <a:solidFill>
                  <a:srgbClr val="182D44"/>
                </a:solidFill>
                <a:latin typeface="Arial"/>
                <a:ea typeface="Arial"/>
                <a:cs typeface="Arial"/>
              </a:defRPr>
            </a:pPr>
            <a:r>
              <a:rPr sz="3225" b="1">
                <a:solidFill>
                  <a:srgbClr val="182D44"/>
                </a:solidFill>
                <a:latin typeface="Arial"/>
                <a:ea typeface="Arial"/>
                <a:cs typeface="Arial"/>
              </a:rPr>
              <a:t>Development choices</a:t>
            </a:r>
          </a:p>
        </p:txBody>
      </p:sp>
      <p:sp>
        <p:nvSpPr>
          <p:cNvPr id="2" name="">
            <a:extLst xmlns:a="http://schemas.openxmlformats.org/drawingml/2006/main">
              <a:ext uri="{FF2B5EF4-FFF2-40B4-BE49-F238E27FC236}">
                <a16:creationId xmlns:a16="http://schemas.microsoft.com/office/drawing/2014/main" id="{61A73509-9117-465A-955C-FF185DF57284}"/>
              </a:ext>
            </a:extLst>
          </p:cNvPr>
          <p:cNvSpPr>
            <a:spLocks xmlns:a="http://schemas.openxmlformats.org/drawingml/2006/main" noGrp="1"/>
          </p:cNvSpPr>
          <p:nvPr/>
        </p:nvSpPr>
        <p:spPr>
          <a:xfrm xmlns:a="http://schemas.openxmlformats.org/drawingml/2006/main">
            <a:off x="714375" y="17145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D44"/>
                </a:solidFill>
                <a:latin typeface="Arial"/>
                <a:ea typeface="Arial"/>
                <a:cs typeface="Arial"/>
              </a:defRPr>
            </a:defPPr>
            <a:lvl1pPr>
              <a:defRPr sz="2175" b="0">
                <a:solidFill>
                  <a:srgbClr val="182D44"/>
                </a:solidFill>
                <a:latin typeface="Arial"/>
                <a:ea typeface="Arial"/>
                <a:cs typeface="Arial"/>
              </a:defRPr>
            </a:lvl1pPr>
            <a:lvl2pPr>
              <a:defRPr sz="2175" b="0">
                <a:solidFill>
                  <a:srgbClr val="182D44"/>
                </a:solidFill>
                <a:latin typeface="Arial"/>
                <a:ea typeface="Arial"/>
                <a:cs typeface="Arial"/>
              </a:defRPr>
            </a:lvl2pPr>
            <a:lvl3pPr>
              <a:defRPr sz="2175" b="0">
                <a:solidFill>
                  <a:srgbClr val="182D44"/>
                </a:solidFill>
                <a:latin typeface="Arial"/>
                <a:ea typeface="Arial"/>
                <a:cs typeface="Arial"/>
              </a:defRPr>
            </a:lvl3pPr>
            <a:lvl4pPr>
              <a:defRPr sz="2175" b="0">
                <a:solidFill>
                  <a:srgbClr val="182D44"/>
                </a:solidFill>
                <a:latin typeface="Arial"/>
                <a:ea typeface="Arial"/>
                <a:cs typeface="Arial"/>
              </a:defRPr>
            </a:lvl4pPr>
            <a:lvl5pPr>
              <a:defRPr sz="2175" b="0">
                <a:solidFill>
                  <a:srgbClr val="182D44"/>
                </a:solidFill>
                <a:latin typeface="Arial"/>
                <a:ea typeface="Arial"/>
                <a:cs typeface="Arial"/>
              </a:defRPr>
            </a:lvl5pPr>
            <a:lvl6pPr>
              <a:defRPr sz="2175" b="0">
                <a:solidFill>
                  <a:srgbClr val="182D44"/>
                </a:solidFill>
                <a:latin typeface="Arial"/>
                <a:ea typeface="Arial"/>
                <a:cs typeface="Arial"/>
              </a:defRPr>
            </a:lvl6pPr>
            <a:lvl7pPr>
              <a:defRPr sz="2175" b="0">
                <a:solidFill>
                  <a:srgbClr val="182D44"/>
                </a:solidFill>
                <a:latin typeface="Arial"/>
                <a:ea typeface="Arial"/>
                <a:cs typeface="Arial"/>
              </a:defRPr>
            </a:lvl7pPr>
            <a:lvl8pPr>
              <a:defRPr sz="2175" b="0">
                <a:solidFill>
                  <a:srgbClr val="182D44"/>
                </a:solidFill>
                <a:latin typeface="Arial"/>
                <a:ea typeface="Arial"/>
                <a:cs typeface="Arial"/>
              </a:defRPr>
            </a:lvl8pPr>
            <a:lvl9pPr>
              <a:defRPr sz="2175" b="0">
                <a:solidFill>
                  <a:srgbClr val="182D44"/>
                </a:solidFill>
                <a:latin typeface="Arial"/>
                <a:ea typeface="Arial"/>
                <a:cs typeface="Arial"/>
              </a:defRPr>
            </a:lvl9pPr>
          </a:lstStyle>
          <a:p xmlns:a="http://schemas.openxmlformats.org/drawingml/2006/main">
            <a:pPr>
              <a:defRPr sz="2175" b="0">
                <a:solidFill>
                  <a:srgbClr val="182D44"/>
                </a:solidFill>
                <a:latin typeface="Arial"/>
                <a:ea typeface="Arial"/>
                <a:cs typeface="Arial"/>
              </a:defRPr>
            </a:pPr>
            <a:r>
              <a:rPr sz="2175" b="0">
                <a:solidFill>
                  <a:srgbClr val="182D44"/>
                </a:solidFill>
                <a:latin typeface="Arial"/>
                <a:ea typeface="Arial"/>
                <a:cs typeface="Arial"/>
              </a:rPr>
              <a:t>Qwen: 4-shot, single-message examples</a:t>
            </a:r>
          </a:p>
        </p:txBody>
      </p:sp>
      <p:sp>
        <p:nvSpPr>
          <p:cNvPr id="3" name="">
            <a:extLst xmlns:a="http://schemas.openxmlformats.org/drawingml/2006/main">
              <a:ext uri="{FF2B5EF4-FFF2-40B4-BE49-F238E27FC236}">
                <a16:creationId xmlns:a16="http://schemas.microsoft.com/office/drawing/2014/main" id="{0A3A156F-B90E-4F93-AD3D-8BED59C8680C}"/>
              </a:ext>
            </a:extLst>
          </p:cNvPr>
          <p:cNvSpPr>
            <a:spLocks xmlns:a="http://schemas.openxmlformats.org/drawingml/2006/main" noGrp="1"/>
          </p:cNvSpPr>
          <p:nvPr/>
        </p:nvSpPr>
        <p:spPr>
          <a:xfrm xmlns:a="http://schemas.openxmlformats.org/drawingml/2006/main">
            <a:off x="714375" y="26670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D44"/>
                </a:solidFill>
                <a:latin typeface="Arial"/>
                <a:ea typeface="Arial"/>
                <a:cs typeface="Arial"/>
              </a:defRPr>
            </a:defPPr>
            <a:lvl1pPr>
              <a:defRPr sz="2175" b="0">
                <a:solidFill>
                  <a:srgbClr val="182D44"/>
                </a:solidFill>
                <a:latin typeface="Arial"/>
                <a:ea typeface="Arial"/>
                <a:cs typeface="Arial"/>
              </a:defRPr>
            </a:lvl1pPr>
            <a:lvl2pPr>
              <a:defRPr sz="2175" b="0">
                <a:solidFill>
                  <a:srgbClr val="182D44"/>
                </a:solidFill>
                <a:latin typeface="Arial"/>
                <a:ea typeface="Arial"/>
                <a:cs typeface="Arial"/>
              </a:defRPr>
            </a:lvl2pPr>
            <a:lvl3pPr>
              <a:defRPr sz="2175" b="0">
                <a:solidFill>
                  <a:srgbClr val="182D44"/>
                </a:solidFill>
                <a:latin typeface="Arial"/>
                <a:ea typeface="Arial"/>
                <a:cs typeface="Arial"/>
              </a:defRPr>
            </a:lvl3pPr>
            <a:lvl4pPr>
              <a:defRPr sz="2175" b="0">
                <a:solidFill>
                  <a:srgbClr val="182D44"/>
                </a:solidFill>
                <a:latin typeface="Arial"/>
                <a:ea typeface="Arial"/>
                <a:cs typeface="Arial"/>
              </a:defRPr>
            </a:lvl4pPr>
            <a:lvl5pPr>
              <a:defRPr sz="2175" b="0">
                <a:solidFill>
                  <a:srgbClr val="182D44"/>
                </a:solidFill>
                <a:latin typeface="Arial"/>
                <a:ea typeface="Arial"/>
                <a:cs typeface="Arial"/>
              </a:defRPr>
            </a:lvl5pPr>
            <a:lvl6pPr>
              <a:defRPr sz="2175" b="0">
                <a:solidFill>
                  <a:srgbClr val="182D44"/>
                </a:solidFill>
                <a:latin typeface="Arial"/>
                <a:ea typeface="Arial"/>
                <a:cs typeface="Arial"/>
              </a:defRPr>
            </a:lvl6pPr>
            <a:lvl7pPr>
              <a:defRPr sz="2175" b="0">
                <a:solidFill>
                  <a:srgbClr val="182D44"/>
                </a:solidFill>
                <a:latin typeface="Arial"/>
                <a:ea typeface="Arial"/>
                <a:cs typeface="Arial"/>
              </a:defRPr>
            </a:lvl7pPr>
            <a:lvl8pPr>
              <a:defRPr sz="2175" b="0">
                <a:solidFill>
                  <a:srgbClr val="182D44"/>
                </a:solidFill>
                <a:latin typeface="Arial"/>
                <a:ea typeface="Arial"/>
                <a:cs typeface="Arial"/>
              </a:defRPr>
            </a:lvl8pPr>
            <a:lvl9pPr>
              <a:defRPr sz="2175" b="0">
                <a:solidFill>
                  <a:srgbClr val="182D44"/>
                </a:solidFill>
                <a:latin typeface="Arial"/>
                <a:ea typeface="Arial"/>
                <a:cs typeface="Arial"/>
              </a:defRPr>
            </a:lvl9pPr>
          </a:lstStyle>
          <a:p xmlns:a="http://schemas.openxmlformats.org/drawingml/2006/main">
            <a:pPr>
              <a:defRPr sz="2175" b="0">
                <a:solidFill>
                  <a:srgbClr val="182D44"/>
                </a:solidFill>
                <a:latin typeface="Arial"/>
                <a:ea typeface="Arial"/>
                <a:cs typeface="Arial"/>
              </a:defRPr>
            </a:pPr>
            <a:r>
              <a:rPr sz="2175" b="0">
                <a:solidFill>
                  <a:srgbClr val="182D44"/>
                </a:solidFill>
                <a:latin typeface="Arial"/>
                <a:ea typeface="Arial"/>
                <a:cs typeface="Arial"/>
              </a:rPr>
              <a:t>SmolLM2: 4-shot, an explicit final instruction</a:t>
            </a:r>
          </a:p>
        </p:txBody>
      </p:sp>
      <p:sp>
        <p:nvSpPr>
          <p:cNvPr id="4" name="">
            <a:extLst xmlns:a="http://schemas.openxmlformats.org/drawingml/2006/main">
              <a:ext uri="{FF2B5EF4-FFF2-40B4-BE49-F238E27FC236}">
                <a16:creationId xmlns:a16="http://schemas.microsoft.com/office/drawing/2014/main" id="{5CB31E37-C697-4292-94E8-BAAA4A1C7A4C}"/>
              </a:ext>
            </a:extLst>
          </p:cNvPr>
          <p:cNvSpPr>
            <a:spLocks xmlns:a="http://schemas.openxmlformats.org/drawingml/2006/main" noGrp="1"/>
          </p:cNvSpPr>
          <p:nvPr/>
        </p:nvSpPr>
        <p:spPr>
          <a:xfrm xmlns:a="http://schemas.openxmlformats.org/drawingml/2006/main">
            <a:off x="714375" y="36195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D44"/>
                </a:solidFill>
                <a:latin typeface="Arial"/>
                <a:ea typeface="Arial"/>
                <a:cs typeface="Arial"/>
              </a:defRPr>
            </a:defPPr>
            <a:lvl1pPr>
              <a:defRPr sz="2175" b="0">
                <a:solidFill>
                  <a:srgbClr val="182D44"/>
                </a:solidFill>
                <a:latin typeface="Arial"/>
                <a:ea typeface="Arial"/>
                <a:cs typeface="Arial"/>
              </a:defRPr>
            </a:lvl1pPr>
            <a:lvl2pPr>
              <a:defRPr sz="2175" b="0">
                <a:solidFill>
                  <a:srgbClr val="182D44"/>
                </a:solidFill>
                <a:latin typeface="Arial"/>
                <a:ea typeface="Arial"/>
                <a:cs typeface="Arial"/>
              </a:defRPr>
            </a:lvl2pPr>
            <a:lvl3pPr>
              <a:defRPr sz="2175" b="0">
                <a:solidFill>
                  <a:srgbClr val="182D44"/>
                </a:solidFill>
                <a:latin typeface="Arial"/>
                <a:ea typeface="Arial"/>
                <a:cs typeface="Arial"/>
              </a:defRPr>
            </a:lvl3pPr>
            <a:lvl4pPr>
              <a:defRPr sz="2175" b="0">
                <a:solidFill>
                  <a:srgbClr val="182D44"/>
                </a:solidFill>
                <a:latin typeface="Arial"/>
                <a:ea typeface="Arial"/>
                <a:cs typeface="Arial"/>
              </a:defRPr>
            </a:lvl4pPr>
            <a:lvl5pPr>
              <a:defRPr sz="2175" b="0">
                <a:solidFill>
                  <a:srgbClr val="182D44"/>
                </a:solidFill>
                <a:latin typeface="Arial"/>
                <a:ea typeface="Arial"/>
                <a:cs typeface="Arial"/>
              </a:defRPr>
            </a:lvl5pPr>
            <a:lvl6pPr>
              <a:defRPr sz="2175" b="0">
                <a:solidFill>
                  <a:srgbClr val="182D44"/>
                </a:solidFill>
                <a:latin typeface="Arial"/>
                <a:ea typeface="Arial"/>
                <a:cs typeface="Arial"/>
              </a:defRPr>
            </a:lvl6pPr>
            <a:lvl7pPr>
              <a:defRPr sz="2175" b="0">
                <a:solidFill>
                  <a:srgbClr val="182D44"/>
                </a:solidFill>
                <a:latin typeface="Arial"/>
                <a:ea typeface="Arial"/>
                <a:cs typeface="Arial"/>
              </a:defRPr>
            </a:lvl7pPr>
            <a:lvl8pPr>
              <a:defRPr sz="2175" b="0">
                <a:solidFill>
                  <a:srgbClr val="182D44"/>
                </a:solidFill>
                <a:latin typeface="Arial"/>
                <a:ea typeface="Arial"/>
                <a:cs typeface="Arial"/>
              </a:defRPr>
            </a:lvl8pPr>
            <a:lvl9pPr>
              <a:defRPr sz="2175" b="0">
                <a:solidFill>
                  <a:srgbClr val="182D44"/>
                </a:solidFill>
                <a:latin typeface="Arial"/>
                <a:ea typeface="Arial"/>
                <a:cs typeface="Arial"/>
              </a:defRPr>
            </a:lvl9pPr>
          </a:lstStyle>
          <a:p xmlns:a="http://schemas.openxmlformats.org/drawingml/2006/main">
            <a:pPr>
              <a:defRPr sz="2175" b="0">
                <a:solidFill>
                  <a:srgbClr val="182D44"/>
                </a:solidFill>
                <a:latin typeface="Arial"/>
                <a:ea typeface="Arial"/>
                <a:cs typeface="Arial"/>
              </a:defRPr>
            </a:pPr>
            <a:r>
              <a:rPr sz="2175" b="0">
                <a:solidFill>
                  <a:srgbClr val="182D44"/>
                </a:solidFill>
                <a:latin typeface="Arial"/>
                <a:ea typeface="Arial"/>
                <a:cs typeface="Arial"/>
              </a:rPr>
              <a:t>Selected LoRA rates: Qwen 0.0002, SmolLM2 0.0002</a:t>
            </a:r>
          </a:p>
        </p:txBody>
      </p:sp>
      <p:sp>
        <p:nvSpPr>
          <p:cNvPr id="5" name="">
            <a:extLst xmlns:a="http://schemas.openxmlformats.org/drawingml/2006/main">
              <a:ext uri="{FF2B5EF4-FFF2-40B4-BE49-F238E27FC236}">
                <a16:creationId xmlns:a16="http://schemas.microsoft.com/office/drawing/2014/main" id="{8540A20E-53C3-4ECB-8C86-06B18246F198}"/>
              </a:ext>
            </a:extLst>
          </p:cNvPr>
          <p:cNvSpPr>
            <a:spLocks xmlns:a="http://schemas.openxmlformats.org/drawingml/2006/main" noGrp="1"/>
          </p:cNvSpPr>
          <p:nvPr/>
        </p:nvSpPr>
        <p:spPr>
          <a:xfrm xmlns:a="http://schemas.openxmlformats.org/drawingml/2006/main">
            <a:off x="714375" y="45720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D44"/>
                </a:solidFill>
                <a:latin typeface="Arial"/>
                <a:ea typeface="Arial"/>
                <a:cs typeface="Arial"/>
              </a:defRPr>
            </a:defPPr>
            <a:lvl1pPr>
              <a:defRPr sz="2175" b="0">
                <a:solidFill>
                  <a:srgbClr val="182D44"/>
                </a:solidFill>
                <a:latin typeface="Arial"/>
                <a:ea typeface="Arial"/>
                <a:cs typeface="Arial"/>
              </a:defRPr>
            </a:lvl1pPr>
            <a:lvl2pPr>
              <a:defRPr sz="2175" b="0">
                <a:solidFill>
                  <a:srgbClr val="182D44"/>
                </a:solidFill>
                <a:latin typeface="Arial"/>
                <a:ea typeface="Arial"/>
                <a:cs typeface="Arial"/>
              </a:defRPr>
            </a:lvl2pPr>
            <a:lvl3pPr>
              <a:defRPr sz="2175" b="0">
                <a:solidFill>
                  <a:srgbClr val="182D44"/>
                </a:solidFill>
                <a:latin typeface="Arial"/>
                <a:ea typeface="Arial"/>
                <a:cs typeface="Arial"/>
              </a:defRPr>
            </a:lvl3pPr>
            <a:lvl4pPr>
              <a:defRPr sz="2175" b="0">
                <a:solidFill>
                  <a:srgbClr val="182D44"/>
                </a:solidFill>
                <a:latin typeface="Arial"/>
                <a:ea typeface="Arial"/>
                <a:cs typeface="Arial"/>
              </a:defRPr>
            </a:lvl4pPr>
            <a:lvl5pPr>
              <a:defRPr sz="2175" b="0">
                <a:solidFill>
                  <a:srgbClr val="182D44"/>
                </a:solidFill>
                <a:latin typeface="Arial"/>
                <a:ea typeface="Arial"/>
                <a:cs typeface="Arial"/>
              </a:defRPr>
            </a:lvl5pPr>
            <a:lvl6pPr>
              <a:defRPr sz="2175" b="0">
                <a:solidFill>
                  <a:srgbClr val="182D44"/>
                </a:solidFill>
                <a:latin typeface="Arial"/>
                <a:ea typeface="Arial"/>
                <a:cs typeface="Arial"/>
              </a:defRPr>
            </a:lvl6pPr>
            <a:lvl7pPr>
              <a:defRPr sz="2175" b="0">
                <a:solidFill>
                  <a:srgbClr val="182D44"/>
                </a:solidFill>
                <a:latin typeface="Arial"/>
                <a:ea typeface="Arial"/>
                <a:cs typeface="Arial"/>
              </a:defRPr>
            </a:lvl7pPr>
            <a:lvl8pPr>
              <a:defRPr sz="2175" b="0">
                <a:solidFill>
                  <a:srgbClr val="182D44"/>
                </a:solidFill>
                <a:latin typeface="Arial"/>
                <a:ea typeface="Arial"/>
                <a:cs typeface="Arial"/>
              </a:defRPr>
            </a:lvl8pPr>
            <a:lvl9pPr>
              <a:defRPr sz="2175" b="0">
                <a:solidFill>
                  <a:srgbClr val="182D44"/>
                </a:solidFill>
                <a:latin typeface="Arial"/>
                <a:ea typeface="Arial"/>
                <a:cs typeface="Arial"/>
              </a:defRPr>
            </a:lvl9pPr>
          </a:lstStyle>
          <a:p xmlns:a="http://schemas.openxmlformats.org/drawingml/2006/main">
            <a:pPr>
              <a:defRPr sz="2175" b="0">
                <a:solidFill>
                  <a:srgbClr val="182D44"/>
                </a:solidFill>
                <a:latin typeface="Arial"/>
                <a:ea typeface="Arial"/>
                <a:cs typeface="Arial"/>
              </a:defRPr>
            </a:pPr>
            <a:r>
              <a:rPr sz="2175" b="0">
                <a:solidFill>
                  <a:srgbClr val="182D44"/>
                </a:solidFill>
                <a:latin typeface="Arial"/>
                <a:ea typeface="Arial"/>
                <a:cs typeface="Arial"/>
              </a:rPr>
              <a:t>Both models train on all 2,000 training examples.</a:t>
            </a:r>
          </a:p>
        </p:txBody>
      </p:sp>
    </p:spTree>
    <p:extLst>
      <p:ext uri="{BB962C8B-B14F-4D97-AF65-F5344CB8AC3E}">
        <p14:creationId xmlns:p14="http://schemas.microsoft.com/office/powerpoint/2010/main" val="13869119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B327361-3278-416E-AF9E-38A1E540D586}"/>
              </a:ext>
            </a:extLst>
          </p:cNvPr>
          <p:cNvSpPr>
            <a:spLocks xmlns:a="http://schemas.openxmlformats.org/drawingml/2006/main" noGrp="1"/>
          </p:cNvSpPr>
          <p:nvPr/>
        </p:nvSpPr>
        <p:spPr>
          <a:xfrm xmlns:a="http://schemas.openxmlformats.org/drawingml/2006/main">
            <a:off x="66675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2D44"/>
                </a:solidFill>
                <a:latin typeface="Arial"/>
                <a:ea typeface="Arial"/>
                <a:cs typeface="Arial"/>
              </a:defRPr>
            </a:defPPr>
            <a:lvl1pPr>
              <a:defRPr sz="3225" b="1">
                <a:solidFill>
                  <a:srgbClr val="182D44"/>
                </a:solidFill>
                <a:latin typeface="Arial"/>
                <a:ea typeface="Arial"/>
                <a:cs typeface="Arial"/>
              </a:defRPr>
            </a:lvl1pPr>
            <a:lvl2pPr>
              <a:defRPr sz="3225" b="1">
                <a:solidFill>
                  <a:srgbClr val="182D44"/>
                </a:solidFill>
                <a:latin typeface="Arial"/>
                <a:ea typeface="Arial"/>
                <a:cs typeface="Arial"/>
              </a:defRPr>
            </a:lvl2pPr>
            <a:lvl3pPr>
              <a:defRPr sz="3225" b="1">
                <a:solidFill>
                  <a:srgbClr val="182D44"/>
                </a:solidFill>
                <a:latin typeface="Arial"/>
                <a:ea typeface="Arial"/>
                <a:cs typeface="Arial"/>
              </a:defRPr>
            </a:lvl3pPr>
            <a:lvl4pPr>
              <a:defRPr sz="3225" b="1">
                <a:solidFill>
                  <a:srgbClr val="182D44"/>
                </a:solidFill>
                <a:latin typeface="Arial"/>
                <a:ea typeface="Arial"/>
                <a:cs typeface="Arial"/>
              </a:defRPr>
            </a:lvl4pPr>
            <a:lvl5pPr>
              <a:defRPr sz="3225" b="1">
                <a:solidFill>
                  <a:srgbClr val="182D44"/>
                </a:solidFill>
                <a:latin typeface="Arial"/>
                <a:ea typeface="Arial"/>
                <a:cs typeface="Arial"/>
              </a:defRPr>
            </a:lvl5pPr>
            <a:lvl6pPr>
              <a:defRPr sz="3225" b="1">
                <a:solidFill>
                  <a:srgbClr val="182D44"/>
                </a:solidFill>
                <a:latin typeface="Arial"/>
                <a:ea typeface="Arial"/>
                <a:cs typeface="Arial"/>
              </a:defRPr>
            </a:lvl6pPr>
            <a:lvl7pPr>
              <a:defRPr sz="3225" b="1">
                <a:solidFill>
                  <a:srgbClr val="182D44"/>
                </a:solidFill>
                <a:latin typeface="Arial"/>
                <a:ea typeface="Arial"/>
                <a:cs typeface="Arial"/>
              </a:defRPr>
            </a:lvl7pPr>
            <a:lvl8pPr>
              <a:defRPr sz="3225" b="1">
                <a:solidFill>
                  <a:srgbClr val="182D44"/>
                </a:solidFill>
                <a:latin typeface="Arial"/>
                <a:ea typeface="Arial"/>
                <a:cs typeface="Arial"/>
              </a:defRPr>
            </a:lvl8pPr>
            <a:lvl9pPr>
              <a:defRPr sz="3225" b="1">
                <a:solidFill>
                  <a:srgbClr val="182D44"/>
                </a:solidFill>
                <a:latin typeface="Arial"/>
                <a:ea typeface="Arial"/>
                <a:cs typeface="Arial"/>
              </a:defRPr>
            </a:lvl9pPr>
          </a:lstStyle>
          <a:p xmlns:a="http://schemas.openxmlformats.org/drawingml/2006/main">
            <a:pPr>
              <a:defRPr sz="3225" b="1">
                <a:solidFill>
                  <a:srgbClr val="182D44"/>
                </a:solidFill>
                <a:latin typeface="Arial"/>
                <a:ea typeface="Arial"/>
                <a:cs typeface="Arial"/>
              </a:defRPr>
            </a:pPr>
            <a:r>
              <a:rPr sz="3225" b="1">
                <a:solidFill>
                  <a:srgbClr val="182D44"/>
                </a:solidFill>
                <a:latin typeface="Arial"/>
                <a:ea typeface="Arial"/>
                <a:cs typeface="Arial"/>
              </a:rPr>
              <a:t>Final test accuracy</a:t>
            </a:r>
          </a:p>
        </p:txBody>
      </p:sp>
      <p:graphicFrame>
        <p:nvGraphicFramePr>
          <p:cNvPr id="2" name="Chart">
            <a:extLst xmlns:a="http://schemas.openxmlformats.org/drawingml/2006/main">
              <a:ext uri="{FF2B5EF4-FFF2-40B4-BE49-F238E27FC236}">
                <a16:creationId xmlns:a16="http://schemas.microsoft.com/office/drawing/2014/main" id="{59FF7C30-0868-447B-A2CE-D0EF74D403A8}"/>
              </a:ext>
            </a:extLst>
          </p:cNvPr>
          <p:cNvGraphicFramePr/>
          <p:nvPr/>
        </p:nvGraphicFramePr>
        <p:xfrm>
          <a:off xmlns:a="http://schemas.openxmlformats.org/drawingml/2006/main" x="809625" y="1666875"/>
          <a:ext xmlns:a="http://schemas.openxmlformats.org/drawingml/2006/main" cx="10572750" cy="3714750"/>
        </p:xfrm>
        <a:graphic xmlns:a="http://schemas.openxmlformats.org/drawingml/2006/main">
          <a:graphicData uri="http://schemas.openxmlformats.org/drawingml/2006/chart">
            <c:chart xmlns:r="http://schemas.openxmlformats.org/officeDocument/2006/relationships" xmlns:c="http://schemas.openxmlformats.org/drawingml/2006/chart" r:id="R97c52766f08b4bdc"/>
          </a:graphicData>
        </a:graphic>
      </p:graphicFrame>
      <p:sp>
        <p:nvSpPr>
          <p:cNvPr id="3" name="">
            <a:extLst xmlns:a="http://schemas.openxmlformats.org/drawingml/2006/main">
              <a:ext uri="{FF2B5EF4-FFF2-40B4-BE49-F238E27FC236}">
                <a16:creationId xmlns:a16="http://schemas.microsoft.com/office/drawing/2014/main" id="{51F4C956-2BFE-44C9-B601-1ADDC84D5ECD}"/>
              </a:ext>
            </a:extLst>
          </p:cNvPr>
          <p:cNvSpPr>
            <a:spLocks xmlns:a="http://schemas.openxmlformats.org/drawingml/2006/main" noGrp="1"/>
          </p:cNvSpPr>
          <p:nvPr/>
        </p:nvSpPr>
        <p:spPr>
          <a:xfrm xmlns:a="http://schemas.openxmlformats.org/drawingml/2006/main">
            <a:off x="857250" y="5810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679"/>
                </a:solidFill>
                <a:latin typeface="Arial"/>
                <a:ea typeface="Arial"/>
                <a:cs typeface="Arial"/>
              </a:defRPr>
            </a:defPPr>
            <a:lvl1pPr>
              <a:defRPr sz="1875" b="0">
                <a:solidFill>
                  <a:srgbClr val="536679"/>
                </a:solidFill>
                <a:latin typeface="Arial"/>
                <a:ea typeface="Arial"/>
                <a:cs typeface="Arial"/>
              </a:defRPr>
            </a:lvl1pPr>
            <a:lvl2pPr>
              <a:defRPr sz="1875" b="0">
                <a:solidFill>
                  <a:srgbClr val="536679"/>
                </a:solidFill>
                <a:latin typeface="Arial"/>
                <a:ea typeface="Arial"/>
                <a:cs typeface="Arial"/>
              </a:defRPr>
            </a:lvl2pPr>
            <a:lvl3pPr>
              <a:defRPr sz="1875" b="0">
                <a:solidFill>
                  <a:srgbClr val="536679"/>
                </a:solidFill>
                <a:latin typeface="Arial"/>
                <a:ea typeface="Arial"/>
                <a:cs typeface="Arial"/>
              </a:defRPr>
            </a:lvl3pPr>
            <a:lvl4pPr>
              <a:defRPr sz="1875" b="0">
                <a:solidFill>
                  <a:srgbClr val="536679"/>
                </a:solidFill>
                <a:latin typeface="Arial"/>
                <a:ea typeface="Arial"/>
                <a:cs typeface="Arial"/>
              </a:defRPr>
            </a:lvl4pPr>
            <a:lvl5pPr>
              <a:defRPr sz="1875" b="0">
                <a:solidFill>
                  <a:srgbClr val="536679"/>
                </a:solidFill>
                <a:latin typeface="Arial"/>
                <a:ea typeface="Arial"/>
                <a:cs typeface="Arial"/>
              </a:defRPr>
            </a:lvl5pPr>
            <a:lvl6pPr>
              <a:defRPr sz="1875" b="0">
                <a:solidFill>
                  <a:srgbClr val="536679"/>
                </a:solidFill>
                <a:latin typeface="Arial"/>
                <a:ea typeface="Arial"/>
                <a:cs typeface="Arial"/>
              </a:defRPr>
            </a:lvl6pPr>
            <a:lvl7pPr>
              <a:defRPr sz="1875" b="0">
                <a:solidFill>
                  <a:srgbClr val="536679"/>
                </a:solidFill>
                <a:latin typeface="Arial"/>
                <a:ea typeface="Arial"/>
                <a:cs typeface="Arial"/>
              </a:defRPr>
            </a:lvl7pPr>
            <a:lvl8pPr>
              <a:defRPr sz="1875" b="0">
                <a:solidFill>
                  <a:srgbClr val="536679"/>
                </a:solidFill>
                <a:latin typeface="Arial"/>
                <a:ea typeface="Arial"/>
                <a:cs typeface="Arial"/>
              </a:defRPr>
            </a:lvl8pPr>
            <a:lvl9pPr>
              <a:defRPr sz="1875" b="0">
                <a:solidFill>
                  <a:srgbClr val="536679"/>
                </a:solidFill>
                <a:latin typeface="Arial"/>
                <a:ea typeface="Arial"/>
                <a:cs typeface="Arial"/>
              </a:defRPr>
            </a:lvl9pPr>
          </a:lstStyle>
          <a:p xmlns:a="http://schemas.openxmlformats.org/drawingml/2006/main">
            <a:pPr>
              <a:defRPr sz="1875" b="0">
                <a:solidFill>
                  <a:srgbClr val="536679"/>
                </a:solidFill>
                <a:latin typeface="Arial"/>
                <a:ea typeface="Arial"/>
                <a:cs typeface="Arial"/>
              </a:defRPr>
            </a:pPr>
            <a:r>
              <a:rPr sz="1875" b="0">
                <a:solidFill>
                  <a:srgbClr val="536679"/>
                </a:solidFill>
                <a:latin typeface="Arial"/>
                <a:ea typeface="Arial"/>
                <a:cs typeface="Arial"/>
              </a:rPr>
              <a:t>Same held-out items and strict label matching for every system</a:t>
            </a:r>
          </a:p>
        </p:txBody>
      </p:sp>
    </p:spTree>
    <p:extLst>
      <p:ext uri="{BB962C8B-B14F-4D97-AF65-F5344CB8AC3E}">
        <p14:creationId xmlns:p14="http://schemas.microsoft.com/office/powerpoint/2010/main" val="8506244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C60E595-2AE9-4CBB-B956-3424A3466AC6}"/>
              </a:ext>
            </a:extLst>
          </p:cNvPr>
          <p:cNvSpPr>
            <a:spLocks xmlns:a="http://schemas.openxmlformats.org/drawingml/2006/main" noGrp="1"/>
          </p:cNvSpPr>
          <p:nvPr/>
        </p:nvSpPr>
        <p:spPr>
          <a:xfrm xmlns:a="http://schemas.openxmlformats.org/drawingml/2006/main">
            <a:off x="66675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2D44"/>
                </a:solidFill>
                <a:latin typeface="Arial"/>
                <a:ea typeface="Arial"/>
                <a:cs typeface="Arial"/>
              </a:defRPr>
            </a:defPPr>
            <a:lvl1pPr>
              <a:defRPr sz="3225" b="1">
                <a:solidFill>
                  <a:srgbClr val="182D44"/>
                </a:solidFill>
                <a:latin typeface="Arial"/>
                <a:ea typeface="Arial"/>
                <a:cs typeface="Arial"/>
              </a:defRPr>
            </a:lvl1pPr>
            <a:lvl2pPr>
              <a:defRPr sz="3225" b="1">
                <a:solidFill>
                  <a:srgbClr val="182D44"/>
                </a:solidFill>
                <a:latin typeface="Arial"/>
                <a:ea typeface="Arial"/>
                <a:cs typeface="Arial"/>
              </a:defRPr>
            </a:lvl2pPr>
            <a:lvl3pPr>
              <a:defRPr sz="3225" b="1">
                <a:solidFill>
                  <a:srgbClr val="182D44"/>
                </a:solidFill>
                <a:latin typeface="Arial"/>
                <a:ea typeface="Arial"/>
                <a:cs typeface="Arial"/>
              </a:defRPr>
            </a:lvl3pPr>
            <a:lvl4pPr>
              <a:defRPr sz="3225" b="1">
                <a:solidFill>
                  <a:srgbClr val="182D44"/>
                </a:solidFill>
                <a:latin typeface="Arial"/>
                <a:ea typeface="Arial"/>
                <a:cs typeface="Arial"/>
              </a:defRPr>
            </a:lvl4pPr>
            <a:lvl5pPr>
              <a:defRPr sz="3225" b="1">
                <a:solidFill>
                  <a:srgbClr val="182D44"/>
                </a:solidFill>
                <a:latin typeface="Arial"/>
                <a:ea typeface="Arial"/>
                <a:cs typeface="Arial"/>
              </a:defRPr>
            </a:lvl5pPr>
            <a:lvl6pPr>
              <a:defRPr sz="3225" b="1">
                <a:solidFill>
                  <a:srgbClr val="182D44"/>
                </a:solidFill>
                <a:latin typeface="Arial"/>
                <a:ea typeface="Arial"/>
                <a:cs typeface="Arial"/>
              </a:defRPr>
            </a:lvl6pPr>
            <a:lvl7pPr>
              <a:defRPr sz="3225" b="1">
                <a:solidFill>
                  <a:srgbClr val="182D44"/>
                </a:solidFill>
                <a:latin typeface="Arial"/>
                <a:ea typeface="Arial"/>
                <a:cs typeface="Arial"/>
              </a:defRPr>
            </a:lvl7pPr>
            <a:lvl8pPr>
              <a:defRPr sz="3225" b="1">
                <a:solidFill>
                  <a:srgbClr val="182D44"/>
                </a:solidFill>
                <a:latin typeface="Arial"/>
                <a:ea typeface="Arial"/>
                <a:cs typeface="Arial"/>
              </a:defRPr>
            </a:lvl8pPr>
            <a:lvl9pPr>
              <a:defRPr sz="3225" b="1">
                <a:solidFill>
                  <a:srgbClr val="182D44"/>
                </a:solidFill>
                <a:latin typeface="Arial"/>
                <a:ea typeface="Arial"/>
                <a:cs typeface="Arial"/>
              </a:defRPr>
            </a:lvl9pPr>
          </a:lstStyle>
          <a:p xmlns:a="http://schemas.openxmlformats.org/drawingml/2006/main">
            <a:pPr>
              <a:defRPr sz="3225" b="1">
                <a:solidFill>
                  <a:srgbClr val="182D44"/>
                </a:solidFill>
                <a:latin typeface="Arial"/>
                <a:ea typeface="Arial"/>
                <a:cs typeface="Arial"/>
              </a:defRPr>
            </a:pPr>
            <a:r>
              <a:rPr sz="3225" b="1">
                <a:solidFill>
                  <a:srgbClr val="182D44"/>
                </a:solidFill>
                <a:latin typeface="Arial"/>
                <a:ea typeface="Arial"/>
                <a:cs typeface="Arial"/>
              </a:rPr>
              <a:t>Output format and topic accuracy</a:t>
            </a:r>
          </a:p>
        </p:txBody>
      </p:sp>
      <p:graphicFrame>
        <p:nvGraphicFramePr>
          <p:cNvPr id="2" name="Chart">
            <a:extLst xmlns:a="http://schemas.openxmlformats.org/drawingml/2006/main">
              <a:ext uri="{FF2B5EF4-FFF2-40B4-BE49-F238E27FC236}">
                <a16:creationId xmlns:a16="http://schemas.microsoft.com/office/drawing/2014/main" id="{43CC9035-483D-4964-86E3-DAFCAB1E120F}"/>
              </a:ext>
            </a:extLst>
          </p:cNvPr>
          <p:cNvGraphicFramePr/>
          <p:nvPr/>
        </p:nvGraphicFramePr>
        <p:xfrm>
          <a:off xmlns:a="http://schemas.openxmlformats.org/drawingml/2006/main" x="809625" y="1666875"/>
          <a:ext xmlns:a="http://schemas.openxmlformats.org/drawingml/2006/main" cx="10572750" cy="3714750"/>
        </p:xfrm>
        <a:graphic xmlns:a="http://schemas.openxmlformats.org/drawingml/2006/main">
          <a:graphicData uri="http://schemas.openxmlformats.org/drawingml/2006/chart">
            <c:chart xmlns:r="http://schemas.openxmlformats.org/officeDocument/2006/relationships" xmlns:c="http://schemas.openxmlformats.org/drawingml/2006/chart" r:id="R66610e97c3aa4df8"/>
          </a:graphicData>
        </a:graphic>
      </p:graphicFrame>
      <p:sp>
        <p:nvSpPr>
          <p:cNvPr id="3" name="">
            <a:extLst xmlns:a="http://schemas.openxmlformats.org/drawingml/2006/main">
              <a:ext uri="{FF2B5EF4-FFF2-40B4-BE49-F238E27FC236}">
                <a16:creationId xmlns:a16="http://schemas.microsoft.com/office/drawing/2014/main" id="{8E84EA4C-F6CB-4775-8419-A1583A140A92}"/>
              </a:ext>
            </a:extLst>
          </p:cNvPr>
          <p:cNvSpPr>
            <a:spLocks xmlns:a="http://schemas.openxmlformats.org/drawingml/2006/main" noGrp="1"/>
          </p:cNvSpPr>
          <p:nvPr/>
        </p:nvSpPr>
        <p:spPr>
          <a:xfrm xmlns:a="http://schemas.openxmlformats.org/drawingml/2006/main">
            <a:off x="857250" y="5810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679"/>
                </a:solidFill>
                <a:latin typeface="Arial"/>
                <a:ea typeface="Arial"/>
                <a:cs typeface="Arial"/>
              </a:defRPr>
            </a:defPPr>
            <a:lvl1pPr>
              <a:defRPr sz="1875" b="0">
                <a:solidFill>
                  <a:srgbClr val="536679"/>
                </a:solidFill>
                <a:latin typeface="Arial"/>
                <a:ea typeface="Arial"/>
                <a:cs typeface="Arial"/>
              </a:defRPr>
            </a:lvl1pPr>
            <a:lvl2pPr>
              <a:defRPr sz="1875" b="0">
                <a:solidFill>
                  <a:srgbClr val="536679"/>
                </a:solidFill>
                <a:latin typeface="Arial"/>
                <a:ea typeface="Arial"/>
                <a:cs typeface="Arial"/>
              </a:defRPr>
            </a:lvl2pPr>
            <a:lvl3pPr>
              <a:defRPr sz="1875" b="0">
                <a:solidFill>
                  <a:srgbClr val="536679"/>
                </a:solidFill>
                <a:latin typeface="Arial"/>
                <a:ea typeface="Arial"/>
                <a:cs typeface="Arial"/>
              </a:defRPr>
            </a:lvl3pPr>
            <a:lvl4pPr>
              <a:defRPr sz="1875" b="0">
                <a:solidFill>
                  <a:srgbClr val="536679"/>
                </a:solidFill>
                <a:latin typeface="Arial"/>
                <a:ea typeface="Arial"/>
                <a:cs typeface="Arial"/>
              </a:defRPr>
            </a:lvl4pPr>
            <a:lvl5pPr>
              <a:defRPr sz="1875" b="0">
                <a:solidFill>
                  <a:srgbClr val="536679"/>
                </a:solidFill>
                <a:latin typeface="Arial"/>
                <a:ea typeface="Arial"/>
                <a:cs typeface="Arial"/>
              </a:defRPr>
            </a:lvl5pPr>
            <a:lvl6pPr>
              <a:defRPr sz="1875" b="0">
                <a:solidFill>
                  <a:srgbClr val="536679"/>
                </a:solidFill>
                <a:latin typeface="Arial"/>
                <a:ea typeface="Arial"/>
                <a:cs typeface="Arial"/>
              </a:defRPr>
            </a:lvl6pPr>
            <a:lvl7pPr>
              <a:defRPr sz="1875" b="0">
                <a:solidFill>
                  <a:srgbClr val="536679"/>
                </a:solidFill>
                <a:latin typeface="Arial"/>
                <a:ea typeface="Arial"/>
                <a:cs typeface="Arial"/>
              </a:defRPr>
            </a:lvl7pPr>
            <a:lvl8pPr>
              <a:defRPr sz="1875" b="0">
                <a:solidFill>
                  <a:srgbClr val="536679"/>
                </a:solidFill>
                <a:latin typeface="Arial"/>
                <a:ea typeface="Arial"/>
                <a:cs typeface="Arial"/>
              </a:defRPr>
            </a:lvl8pPr>
            <a:lvl9pPr>
              <a:defRPr sz="1875" b="0">
                <a:solidFill>
                  <a:srgbClr val="536679"/>
                </a:solidFill>
                <a:latin typeface="Arial"/>
                <a:ea typeface="Arial"/>
                <a:cs typeface="Arial"/>
              </a:defRPr>
            </a:lvl9pPr>
          </a:lstStyle>
          <a:p xmlns:a="http://schemas.openxmlformats.org/drawingml/2006/main">
            <a:pPr>
              <a:defRPr sz="1875" b="0">
                <a:solidFill>
                  <a:srgbClr val="536679"/>
                </a:solidFill>
                <a:latin typeface="Arial"/>
                <a:ea typeface="Arial"/>
                <a:cs typeface="Arial"/>
              </a:defRPr>
            </a:pPr>
            <a:r>
              <a:rPr sz="1875" b="0">
                <a:solidFill>
                  <a:srgbClr val="536679"/>
                </a:solidFill>
                <a:latin typeface="Arial"/>
                <a:ea typeface="Arial"/>
                <a:cs typeface="Arial"/>
              </a:rPr>
              <a:t>SmolLM2 validation: format compliance rises faster than accuracy</a:t>
            </a:r>
          </a:p>
        </p:txBody>
      </p:sp>
    </p:spTree>
    <p:extLst>
      <p:ext uri="{BB962C8B-B14F-4D97-AF65-F5344CB8AC3E}">
        <p14:creationId xmlns:p14="http://schemas.microsoft.com/office/powerpoint/2010/main" val="19161572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0FEEC6C-DE16-40B7-8D3C-1195623B0A4E}"/>
              </a:ext>
            </a:extLst>
          </p:cNvPr>
          <p:cNvSpPr>
            <a:spLocks xmlns:a="http://schemas.openxmlformats.org/drawingml/2006/main" noGrp="1"/>
          </p:cNvSpPr>
          <p:nvPr/>
        </p:nvSpPr>
        <p:spPr>
          <a:xfrm xmlns:a="http://schemas.openxmlformats.org/drawingml/2006/main">
            <a:off x="66675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2D44"/>
                </a:solidFill>
                <a:latin typeface="Arial"/>
                <a:ea typeface="Arial"/>
                <a:cs typeface="Arial"/>
              </a:defRPr>
            </a:defPPr>
            <a:lvl1pPr>
              <a:defRPr sz="3225" b="1">
                <a:solidFill>
                  <a:srgbClr val="182D44"/>
                </a:solidFill>
                <a:latin typeface="Arial"/>
                <a:ea typeface="Arial"/>
                <a:cs typeface="Arial"/>
              </a:defRPr>
            </a:lvl1pPr>
            <a:lvl2pPr>
              <a:defRPr sz="3225" b="1">
                <a:solidFill>
                  <a:srgbClr val="182D44"/>
                </a:solidFill>
                <a:latin typeface="Arial"/>
                <a:ea typeface="Arial"/>
                <a:cs typeface="Arial"/>
              </a:defRPr>
            </a:lvl2pPr>
            <a:lvl3pPr>
              <a:defRPr sz="3225" b="1">
                <a:solidFill>
                  <a:srgbClr val="182D44"/>
                </a:solidFill>
                <a:latin typeface="Arial"/>
                <a:ea typeface="Arial"/>
                <a:cs typeface="Arial"/>
              </a:defRPr>
            </a:lvl3pPr>
            <a:lvl4pPr>
              <a:defRPr sz="3225" b="1">
                <a:solidFill>
                  <a:srgbClr val="182D44"/>
                </a:solidFill>
                <a:latin typeface="Arial"/>
                <a:ea typeface="Arial"/>
                <a:cs typeface="Arial"/>
              </a:defRPr>
            </a:lvl4pPr>
            <a:lvl5pPr>
              <a:defRPr sz="3225" b="1">
                <a:solidFill>
                  <a:srgbClr val="182D44"/>
                </a:solidFill>
                <a:latin typeface="Arial"/>
                <a:ea typeface="Arial"/>
                <a:cs typeface="Arial"/>
              </a:defRPr>
            </a:lvl5pPr>
            <a:lvl6pPr>
              <a:defRPr sz="3225" b="1">
                <a:solidFill>
                  <a:srgbClr val="182D44"/>
                </a:solidFill>
                <a:latin typeface="Arial"/>
                <a:ea typeface="Arial"/>
                <a:cs typeface="Arial"/>
              </a:defRPr>
            </a:lvl6pPr>
            <a:lvl7pPr>
              <a:defRPr sz="3225" b="1">
                <a:solidFill>
                  <a:srgbClr val="182D44"/>
                </a:solidFill>
                <a:latin typeface="Arial"/>
                <a:ea typeface="Arial"/>
                <a:cs typeface="Arial"/>
              </a:defRPr>
            </a:lvl7pPr>
            <a:lvl8pPr>
              <a:defRPr sz="3225" b="1">
                <a:solidFill>
                  <a:srgbClr val="182D44"/>
                </a:solidFill>
                <a:latin typeface="Arial"/>
                <a:ea typeface="Arial"/>
                <a:cs typeface="Arial"/>
              </a:defRPr>
            </a:lvl8pPr>
            <a:lvl9pPr>
              <a:defRPr sz="3225" b="1">
                <a:solidFill>
                  <a:srgbClr val="182D44"/>
                </a:solidFill>
                <a:latin typeface="Arial"/>
                <a:ea typeface="Arial"/>
                <a:cs typeface="Arial"/>
              </a:defRPr>
            </a:lvl9pPr>
          </a:lstStyle>
          <a:p xmlns:a="http://schemas.openxmlformats.org/drawingml/2006/main">
            <a:pPr>
              <a:defRPr sz="3225" b="1">
                <a:solidFill>
                  <a:srgbClr val="182D44"/>
                </a:solidFill>
                <a:latin typeface="Arial"/>
                <a:ea typeface="Arial"/>
                <a:cs typeface="Arial"/>
              </a:defRPr>
            </a:pPr>
            <a:r>
              <a:rPr sz="3225" b="1">
                <a:solidFill>
                  <a:srgbClr val="182D44"/>
                </a:solidFill>
                <a:latin typeface="Arial"/>
                <a:ea typeface="Arial"/>
                <a:cs typeface="Arial"/>
              </a:rPr>
              <a:t>Retrieved demonstrations</a:t>
            </a:r>
          </a:p>
        </p:txBody>
      </p:sp>
      <p:graphicFrame>
        <p:nvGraphicFramePr>
          <p:cNvPr id="2" name="Chart">
            <a:extLst xmlns:a="http://schemas.openxmlformats.org/drawingml/2006/main">
              <a:ext uri="{FF2B5EF4-FFF2-40B4-BE49-F238E27FC236}">
                <a16:creationId xmlns:a16="http://schemas.microsoft.com/office/drawing/2014/main" id="{8FAD94D8-5B7E-463F-A65F-44E224491970}"/>
              </a:ext>
            </a:extLst>
          </p:cNvPr>
          <p:cNvGraphicFramePr/>
          <p:nvPr/>
        </p:nvGraphicFramePr>
        <p:xfrm>
          <a:off xmlns:a="http://schemas.openxmlformats.org/drawingml/2006/main" x="809625" y="1666875"/>
          <a:ext xmlns:a="http://schemas.openxmlformats.org/drawingml/2006/main" cx="10572750" cy="3714750"/>
        </p:xfrm>
        <a:graphic xmlns:a="http://schemas.openxmlformats.org/drawingml/2006/main">
          <a:graphicData uri="http://schemas.openxmlformats.org/drawingml/2006/chart">
            <c:chart xmlns:r="http://schemas.openxmlformats.org/officeDocument/2006/relationships" xmlns:c="http://schemas.openxmlformats.org/drawingml/2006/chart" r:id="Rb1e074a89fe04a00"/>
          </a:graphicData>
        </a:graphic>
      </p:graphicFrame>
      <p:sp>
        <p:nvSpPr>
          <p:cNvPr id="3" name="">
            <a:extLst xmlns:a="http://schemas.openxmlformats.org/drawingml/2006/main">
              <a:ext uri="{FF2B5EF4-FFF2-40B4-BE49-F238E27FC236}">
                <a16:creationId xmlns:a16="http://schemas.microsoft.com/office/drawing/2014/main" id="{9B4BF943-F308-460E-BF62-21AAA37CFB5B}"/>
              </a:ext>
            </a:extLst>
          </p:cNvPr>
          <p:cNvSpPr>
            <a:spLocks xmlns:a="http://schemas.openxmlformats.org/drawingml/2006/main" noGrp="1"/>
          </p:cNvSpPr>
          <p:nvPr/>
        </p:nvSpPr>
        <p:spPr>
          <a:xfrm xmlns:a="http://schemas.openxmlformats.org/drawingml/2006/main">
            <a:off x="857250" y="5810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679"/>
                </a:solidFill>
                <a:latin typeface="Arial"/>
                <a:ea typeface="Arial"/>
                <a:cs typeface="Arial"/>
              </a:defRPr>
            </a:defPPr>
            <a:lvl1pPr>
              <a:defRPr sz="1875" b="0">
                <a:solidFill>
                  <a:srgbClr val="536679"/>
                </a:solidFill>
                <a:latin typeface="Arial"/>
                <a:ea typeface="Arial"/>
                <a:cs typeface="Arial"/>
              </a:defRPr>
            </a:lvl1pPr>
            <a:lvl2pPr>
              <a:defRPr sz="1875" b="0">
                <a:solidFill>
                  <a:srgbClr val="536679"/>
                </a:solidFill>
                <a:latin typeface="Arial"/>
                <a:ea typeface="Arial"/>
                <a:cs typeface="Arial"/>
              </a:defRPr>
            </a:lvl2pPr>
            <a:lvl3pPr>
              <a:defRPr sz="1875" b="0">
                <a:solidFill>
                  <a:srgbClr val="536679"/>
                </a:solidFill>
                <a:latin typeface="Arial"/>
                <a:ea typeface="Arial"/>
                <a:cs typeface="Arial"/>
              </a:defRPr>
            </a:lvl3pPr>
            <a:lvl4pPr>
              <a:defRPr sz="1875" b="0">
                <a:solidFill>
                  <a:srgbClr val="536679"/>
                </a:solidFill>
                <a:latin typeface="Arial"/>
                <a:ea typeface="Arial"/>
                <a:cs typeface="Arial"/>
              </a:defRPr>
            </a:lvl4pPr>
            <a:lvl5pPr>
              <a:defRPr sz="1875" b="0">
                <a:solidFill>
                  <a:srgbClr val="536679"/>
                </a:solidFill>
                <a:latin typeface="Arial"/>
                <a:ea typeface="Arial"/>
                <a:cs typeface="Arial"/>
              </a:defRPr>
            </a:lvl5pPr>
            <a:lvl6pPr>
              <a:defRPr sz="1875" b="0">
                <a:solidFill>
                  <a:srgbClr val="536679"/>
                </a:solidFill>
                <a:latin typeface="Arial"/>
                <a:ea typeface="Arial"/>
                <a:cs typeface="Arial"/>
              </a:defRPr>
            </a:lvl6pPr>
            <a:lvl7pPr>
              <a:defRPr sz="1875" b="0">
                <a:solidFill>
                  <a:srgbClr val="536679"/>
                </a:solidFill>
                <a:latin typeface="Arial"/>
                <a:ea typeface="Arial"/>
                <a:cs typeface="Arial"/>
              </a:defRPr>
            </a:lvl7pPr>
            <a:lvl8pPr>
              <a:defRPr sz="1875" b="0">
                <a:solidFill>
                  <a:srgbClr val="536679"/>
                </a:solidFill>
                <a:latin typeface="Arial"/>
                <a:ea typeface="Arial"/>
                <a:cs typeface="Arial"/>
              </a:defRPr>
            </a:lvl8pPr>
            <a:lvl9pPr>
              <a:defRPr sz="1875" b="0">
                <a:solidFill>
                  <a:srgbClr val="536679"/>
                </a:solidFill>
                <a:latin typeface="Arial"/>
                <a:ea typeface="Arial"/>
                <a:cs typeface="Arial"/>
              </a:defRPr>
            </a:lvl9pPr>
          </a:lstStyle>
          <a:p xmlns:a="http://schemas.openxmlformats.org/drawingml/2006/main">
            <a:pPr>
              <a:defRPr sz="1875" b="0">
                <a:solidFill>
                  <a:srgbClr val="536679"/>
                </a:solidFill>
                <a:latin typeface="Arial"/>
                <a:ea typeface="Arial"/>
                <a:cs typeface="Arial"/>
              </a:defRPr>
            </a:pPr>
            <a:r>
              <a:rPr sz="1875" b="0">
                <a:solidFill>
                  <a:srgbClr val="536679"/>
                </a:solidFill>
                <a:latin typeface="Arial"/>
                <a:ea typeface="Arial"/>
                <a:cs typeface="Arial"/>
              </a:rPr>
              <a:t>Only training examples enter the retrieval index</a:t>
            </a:r>
          </a:p>
        </p:txBody>
      </p:sp>
    </p:spTree>
    <p:extLst>
      <p:ext uri="{BB962C8B-B14F-4D97-AF65-F5344CB8AC3E}">
        <p14:creationId xmlns:p14="http://schemas.microsoft.com/office/powerpoint/2010/main" val="19411733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EC2F9B-314A-426F-9864-4B94E59E8CED}"/>
              </a:ext>
            </a:extLst>
          </p:cNvPr>
          <p:cNvSpPr>
            <a:spLocks xmlns:a="http://schemas.openxmlformats.org/drawingml/2006/main" noGrp="1"/>
          </p:cNvSpPr>
          <p:nvPr/>
        </p:nvSpPr>
        <p:spPr>
          <a:xfrm xmlns:a="http://schemas.openxmlformats.org/drawingml/2006/main">
            <a:off x="66675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2D44"/>
                </a:solidFill>
                <a:latin typeface="Arial"/>
                <a:ea typeface="Arial"/>
                <a:cs typeface="Arial"/>
              </a:defRPr>
            </a:defPPr>
            <a:lvl1pPr>
              <a:defRPr sz="3225" b="1">
                <a:solidFill>
                  <a:srgbClr val="182D44"/>
                </a:solidFill>
                <a:latin typeface="Arial"/>
                <a:ea typeface="Arial"/>
                <a:cs typeface="Arial"/>
              </a:defRPr>
            </a:lvl1pPr>
            <a:lvl2pPr>
              <a:defRPr sz="3225" b="1">
                <a:solidFill>
                  <a:srgbClr val="182D44"/>
                </a:solidFill>
                <a:latin typeface="Arial"/>
                <a:ea typeface="Arial"/>
                <a:cs typeface="Arial"/>
              </a:defRPr>
            </a:lvl2pPr>
            <a:lvl3pPr>
              <a:defRPr sz="3225" b="1">
                <a:solidFill>
                  <a:srgbClr val="182D44"/>
                </a:solidFill>
                <a:latin typeface="Arial"/>
                <a:ea typeface="Arial"/>
                <a:cs typeface="Arial"/>
              </a:defRPr>
            </a:lvl3pPr>
            <a:lvl4pPr>
              <a:defRPr sz="3225" b="1">
                <a:solidFill>
                  <a:srgbClr val="182D44"/>
                </a:solidFill>
                <a:latin typeface="Arial"/>
                <a:ea typeface="Arial"/>
                <a:cs typeface="Arial"/>
              </a:defRPr>
            </a:lvl4pPr>
            <a:lvl5pPr>
              <a:defRPr sz="3225" b="1">
                <a:solidFill>
                  <a:srgbClr val="182D44"/>
                </a:solidFill>
                <a:latin typeface="Arial"/>
                <a:ea typeface="Arial"/>
                <a:cs typeface="Arial"/>
              </a:defRPr>
            </a:lvl5pPr>
            <a:lvl6pPr>
              <a:defRPr sz="3225" b="1">
                <a:solidFill>
                  <a:srgbClr val="182D44"/>
                </a:solidFill>
                <a:latin typeface="Arial"/>
                <a:ea typeface="Arial"/>
                <a:cs typeface="Arial"/>
              </a:defRPr>
            </a:lvl6pPr>
            <a:lvl7pPr>
              <a:defRPr sz="3225" b="1">
                <a:solidFill>
                  <a:srgbClr val="182D44"/>
                </a:solidFill>
                <a:latin typeface="Arial"/>
                <a:ea typeface="Arial"/>
                <a:cs typeface="Arial"/>
              </a:defRPr>
            </a:lvl7pPr>
            <a:lvl8pPr>
              <a:defRPr sz="3225" b="1">
                <a:solidFill>
                  <a:srgbClr val="182D44"/>
                </a:solidFill>
                <a:latin typeface="Arial"/>
                <a:ea typeface="Arial"/>
                <a:cs typeface="Arial"/>
              </a:defRPr>
            </a:lvl8pPr>
            <a:lvl9pPr>
              <a:defRPr sz="3225" b="1">
                <a:solidFill>
                  <a:srgbClr val="182D44"/>
                </a:solidFill>
                <a:latin typeface="Arial"/>
                <a:ea typeface="Arial"/>
                <a:cs typeface="Arial"/>
              </a:defRPr>
            </a:lvl9pPr>
          </a:lstStyle>
          <a:p xmlns:a="http://schemas.openxmlformats.org/drawingml/2006/main">
            <a:pPr>
              <a:defRPr sz="3225" b="1">
                <a:solidFill>
                  <a:srgbClr val="182D44"/>
                </a:solidFill>
                <a:latin typeface="Arial"/>
                <a:ea typeface="Arial"/>
                <a:cs typeface="Arial"/>
              </a:defRPr>
            </a:pPr>
            <a:r>
              <a:rPr sz="3225" b="1">
                <a:solidFill>
                  <a:srgbClr val="182D44"/>
                </a:solidFill>
                <a:latin typeface="Arial"/>
                <a:ea typeface="Arial"/>
                <a:cs typeface="Arial"/>
              </a:rPr>
              <a:t>Deployment and limits</a:t>
            </a:r>
          </a:p>
        </p:txBody>
      </p:sp>
      <p:sp>
        <p:nvSpPr>
          <p:cNvPr id="2" name="">
            <a:extLst xmlns:a="http://schemas.openxmlformats.org/drawingml/2006/main">
              <a:ext uri="{FF2B5EF4-FFF2-40B4-BE49-F238E27FC236}">
                <a16:creationId xmlns:a16="http://schemas.microsoft.com/office/drawing/2014/main" id="{95347F05-05F4-45AD-B08A-9DC63DE1FDB2}"/>
              </a:ext>
            </a:extLst>
          </p:cNvPr>
          <p:cNvSpPr>
            <a:spLocks xmlns:a="http://schemas.openxmlformats.org/drawingml/2006/main" noGrp="1"/>
          </p:cNvSpPr>
          <p:nvPr/>
        </p:nvSpPr>
        <p:spPr>
          <a:xfrm xmlns:a="http://schemas.openxmlformats.org/drawingml/2006/main">
            <a:off x="714375" y="17145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D44"/>
                </a:solidFill>
                <a:latin typeface="Arial"/>
                <a:ea typeface="Arial"/>
                <a:cs typeface="Arial"/>
              </a:defRPr>
            </a:defPPr>
            <a:lvl1pPr>
              <a:defRPr sz="2175" b="0">
                <a:solidFill>
                  <a:srgbClr val="182D44"/>
                </a:solidFill>
                <a:latin typeface="Arial"/>
                <a:ea typeface="Arial"/>
                <a:cs typeface="Arial"/>
              </a:defRPr>
            </a:lvl1pPr>
            <a:lvl2pPr>
              <a:defRPr sz="2175" b="0">
                <a:solidFill>
                  <a:srgbClr val="182D44"/>
                </a:solidFill>
                <a:latin typeface="Arial"/>
                <a:ea typeface="Arial"/>
                <a:cs typeface="Arial"/>
              </a:defRPr>
            </a:lvl2pPr>
            <a:lvl3pPr>
              <a:defRPr sz="2175" b="0">
                <a:solidFill>
                  <a:srgbClr val="182D44"/>
                </a:solidFill>
                <a:latin typeface="Arial"/>
                <a:ea typeface="Arial"/>
                <a:cs typeface="Arial"/>
              </a:defRPr>
            </a:lvl3pPr>
            <a:lvl4pPr>
              <a:defRPr sz="2175" b="0">
                <a:solidFill>
                  <a:srgbClr val="182D44"/>
                </a:solidFill>
                <a:latin typeface="Arial"/>
                <a:ea typeface="Arial"/>
                <a:cs typeface="Arial"/>
              </a:defRPr>
            </a:lvl4pPr>
            <a:lvl5pPr>
              <a:defRPr sz="2175" b="0">
                <a:solidFill>
                  <a:srgbClr val="182D44"/>
                </a:solidFill>
                <a:latin typeface="Arial"/>
                <a:ea typeface="Arial"/>
                <a:cs typeface="Arial"/>
              </a:defRPr>
            </a:lvl5pPr>
            <a:lvl6pPr>
              <a:defRPr sz="2175" b="0">
                <a:solidFill>
                  <a:srgbClr val="182D44"/>
                </a:solidFill>
                <a:latin typeface="Arial"/>
                <a:ea typeface="Arial"/>
                <a:cs typeface="Arial"/>
              </a:defRPr>
            </a:lvl6pPr>
            <a:lvl7pPr>
              <a:defRPr sz="2175" b="0">
                <a:solidFill>
                  <a:srgbClr val="182D44"/>
                </a:solidFill>
                <a:latin typeface="Arial"/>
                <a:ea typeface="Arial"/>
                <a:cs typeface="Arial"/>
              </a:defRPr>
            </a:lvl7pPr>
            <a:lvl8pPr>
              <a:defRPr sz="2175" b="0">
                <a:solidFill>
                  <a:srgbClr val="182D44"/>
                </a:solidFill>
                <a:latin typeface="Arial"/>
                <a:ea typeface="Arial"/>
                <a:cs typeface="Arial"/>
              </a:defRPr>
            </a:lvl8pPr>
            <a:lvl9pPr>
              <a:defRPr sz="2175" b="0">
                <a:solidFill>
                  <a:srgbClr val="182D44"/>
                </a:solidFill>
                <a:latin typeface="Arial"/>
                <a:ea typeface="Arial"/>
                <a:cs typeface="Arial"/>
              </a:defRPr>
            </a:lvl9pPr>
          </a:lstStyle>
          <a:p xmlns:a="http://schemas.openxmlformats.org/drawingml/2006/main">
            <a:pPr>
              <a:defRPr sz="2175" b="0">
                <a:solidFill>
                  <a:srgbClr val="182D44"/>
                </a:solidFill>
                <a:latin typeface="Arial"/>
                <a:ea typeface="Arial"/>
                <a:cs typeface="Arial"/>
              </a:defRPr>
            </a:pPr>
            <a:r>
              <a:rPr sz="2175" b="0">
                <a:solidFill>
                  <a:srgbClr val="182D44"/>
                </a:solidFill>
                <a:latin typeface="Arial"/>
                <a:ea typeface="Arial"/>
                <a:cs typeface="Arial"/>
              </a:rPr>
              <a:t>qwen_lora is the current accuracy-first candidate.</a:t>
            </a:r>
          </a:p>
        </p:txBody>
      </p:sp>
      <p:sp>
        <p:nvSpPr>
          <p:cNvPr id="3" name="">
            <a:extLst xmlns:a="http://schemas.openxmlformats.org/drawingml/2006/main">
              <a:ext uri="{FF2B5EF4-FFF2-40B4-BE49-F238E27FC236}">
                <a16:creationId xmlns:a16="http://schemas.microsoft.com/office/drawing/2014/main" id="{8AAA26E8-06EC-410D-AD31-2B91E7329262}"/>
              </a:ext>
            </a:extLst>
          </p:cNvPr>
          <p:cNvSpPr>
            <a:spLocks xmlns:a="http://schemas.openxmlformats.org/drawingml/2006/main" noGrp="1"/>
          </p:cNvSpPr>
          <p:nvPr/>
        </p:nvSpPr>
        <p:spPr>
          <a:xfrm xmlns:a="http://schemas.openxmlformats.org/drawingml/2006/main">
            <a:off x="714375" y="26670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D44"/>
                </a:solidFill>
                <a:latin typeface="Arial"/>
                <a:ea typeface="Arial"/>
                <a:cs typeface="Arial"/>
              </a:defRPr>
            </a:defPPr>
            <a:lvl1pPr>
              <a:defRPr sz="2175" b="0">
                <a:solidFill>
                  <a:srgbClr val="182D44"/>
                </a:solidFill>
                <a:latin typeface="Arial"/>
                <a:ea typeface="Arial"/>
                <a:cs typeface="Arial"/>
              </a:defRPr>
            </a:lvl1pPr>
            <a:lvl2pPr>
              <a:defRPr sz="2175" b="0">
                <a:solidFill>
                  <a:srgbClr val="182D44"/>
                </a:solidFill>
                <a:latin typeface="Arial"/>
                <a:ea typeface="Arial"/>
                <a:cs typeface="Arial"/>
              </a:defRPr>
            </a:lvl2pPr>
            <a:lvl3pPr>
              <a:defRPr sz="2175" b="0">
                <a:solidFill>
                  <a:srgbClr val="182D44"/>
                </a:solidFill>
                <a:latin typeface="Arial"/>
                <a:ea typeface="Arial"/>
                <a:cs typeface="Arial"/>
              </a:defRPr>
            </a:lvl3pPr>
            <a:lvl4pPr>
              <a:defRPr sz="2175" b="0">
                <a:solidFill>
                  <a:srgbClr val="182D44"/>
                </a:solidFill>
                <a:latin typeface="Arial"/>
                <a:ea typeface="Arial"/>
                <a:cs typeface="Arial"/>
              </a:defRPr>
            </a:lvl4pPr>
            <a:lvl5pPr>
              <a:defRPr sz="2175" b="0">
                <a:solidFill>
                  <a:srgbClr val="182D44"/>
                </a:solidFill>
                <a:latin typeface="Arial"/>
                <a:ea typeface="Arial"/>
                <a:cs typeface="Arial"/>
              </a:defRPr>
            </a:lvl5pPr>
            <a:lvl6pPr>
              <a:defRPr sz="2175" b="0">
                <a:solidFill>
                  <a:srgbClr val="182D44"/>
                </a:solidFill>
                <a:latin typeface="Arial"/>
                <a:ea typeface="Arial"/>
                <a:cs typeface="Arial"/>
              </a:defRPr>
            </a:lvl6pPr>
            <a:lvl7pPr>
              <a:defRPr sz="2175" b="0">
                <a:solidFill>
                  <a:srgbClr val="182D44"/>
                </a:solidFill>
                <a:latin typeface="Arial"/>
                <a:ea typeface="Arial"/>
                <a:cs typeface="Arial"/>
              </a:defRPr>
            </a:lvl7pPr>
            <a:lvl8pPr>
              <a:defRPr sz="2175" b="0">
                <a:solidFill>
                  <a:srgbClr val="182D44"/>
                </a:solidFill>
                <a:latin typeface="Arial"/>
                <a:ea typeface="Arial"/>
                <a:cs typeface="Arial"/>
              </a:defRPr>
            </a:lvl8pPr>
            <a:lvl9pPr>
              <a:defRPr sz="2175" b="0">
                <a:solidFill>
                  <a:srgbClr val="182D44"/>
                </a:solidFill>
                <a:latin typeface="Arial"/>
                <a:ea typeface="Arial"/>
                <a:cs typeface="Arial"/>
              </a:defRPr>
            </a:lvl9pPr>
          </a:lstStyle>
          <a:p xmlns:a="http://schemas.openxmlformats.org/drawingml/2006/main">
            <a:pPr>
              <a:defRPr sz="2175" b="0">
                <a:solidFill>
                  <a:srgbClr val="182D44"/>
                </a:solidFill>
                <a:latin typeface="Arial"/>
                <a:ea typeface="Arial"/>
                <a:cs typeface="Arial"/>
              </a:defRPr>
            </a:pPr>
            <a:r>
              <a:rPr sz="2175" b="0">
                <a:solidFill>
                  <a:srgbClr val="182D44"/>
                </a:solidFill>
                <a:latin typeface="Arial"/>
                <a:ea typeface="Arial"/>
                <a:cs typeface="Arial"/>
              </a:rPr>
              <a:t>SmolLM2 World recall: 95.00% with ICL, 88.00% with LoRA.</a:t>
            </a:r>
          </a:p>
        </p:txBody>
      </p:sp>
      <p:sp>
        <p:nvSpPr>
          <p:cNvPr id="4" name="">
            <a:extLst xmlns:a="http://schemas.openxmlformats.org/drawingml/2006/main">
              <a:ext uri="{FF2B5EF4-FFF2-40B4-BE49-F238E27FC236}">
                <a16:creationId xmlns:a16="http://schemas.microsoft.com/office/drawing/2014/main" id="{1E96D41E-88D9-490F-BD61-F683FBF803F5}"/>
              </a:ext>
            </a:extLst>
          </p:cNvPr>
          <p:cNvSpPr>
            <a:spLocks xmlns:a="http://schemas.openxmlformats.org/drawingml/2006/main" noGrp="1"/>
          </p:cNvSpPr>
          <p:nvPr/>
        </p:nvSpPr>
        <p:spPr>
          <a:xfrm xmlns:a="http://schemas.openxmlformats.org/drawingml/2006/main">
            <a:off x="714375" y="36195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D44"/>
                </a:solidFill>
                <a:latin typeface="Arial"/>
                <a:ea typeface="Arial"/>
                <a:cs typeface="Arial"/>
              </a:defRPr>
            </a:defPPr>
            <a:lvl1pPr>
              <a:defRPr sz="2175" b="0">
                <a:solidFill>
                  <a:srgbClr val="182D44"/>
                </a:solidFill>
                <a:latin typeface="Arial"/>
                <a:ea typeface="Arial"/>
                <a:cs typeface="Arial"/>
              </a:defRPr>
            </a:lvl1pPr>
            <a:lvl2pPr>
              <a:defRPr sz="2175" b="0">
                <a:solidFill>
                  <a:srgbClr val="182D44"/>
                </a:solidFill>
                <a:latin typeface="Arial"/>
                <a:ea typeface="Arial"/>
                <a:cs typeface="Arial"/>
              </a:defRPr>
            </a:lvl2pPr>
            <a:lvl3pPr>
              <a:defRPr sz="2175" b="0">
                <a:solidFill>
                  <a:srgbClr val="182D44"/>
                </a:solidFill>
                <a:latin typeface="Arial"/>
                <a:ea typeface="Arial"/>
                <a:cs typeface="Arial"/>
              </a:defRPr>
            </a:lvl3pPr>
            <a:lvl4pPr>
              <a:defRPr sz="2175" b="0">
                <a:solidFill>
                  <a:srgbClr val="182D44"/>
                </a:solidFill>
                <a:latin typeface="Arial"/>
                <a:ea typeface="Arial"/>
                <a:cs typeface="Arial"/>
              </a:defRPr>
            </a:lvl4pPr>
            <a:lvl5pPr>
              <a:defRPr sz="2175" b="0">
                <a:solidFill>
                  <a:srgbClr val="182D44"/>
                </a:solidFill>
                <a:latin typeface="Arial"/>
                <a:ea typeface="Arial"/>
                <a:cs typeface="Arial"/>
              </a:defRPr>
            </a:lvl5pPr>
            <a:lvl6pPr>
              <a:defRPr sz="2175" b="0">
                <a:solidFill>
                  <a:srgbClr val="182D44"/>
                </a:solidFill>
                <a:latin typeface="Arial"/>
                <a:ea typeface="Arial"/>
                <a:cs typeface="Arial"/>
              </a:defRPr>
            </a:lvl6pPr>
            <a:lvl7pPr>
              <a:defRPr sz="2175" b="0">
                <a:solidFill>
                  <a:srgbClr val="182D44"/>
                </a:solidFill>
                <a:latin typeface="Arial"/>
                <a:ea typeface="Arial"/>
                <a:cs typeface="Arial"/>
              </a:defRPr>
            </a:lvl7pPr>
            <a:lvl8pPr>
              <a:defRPr sz="2175" b="0">
                <a:solidFill>
                  <a:srgbClr val="182D44"/>
                </a:solidFill>
                <a:latin typeface="Arial"/>
                <a:ea typeface="Arial"/>
                <a:cs typeface="Arial"/>
              </a:defRPr>
            </a:lvl8pPr>
            <a:lvl9pPr>
              <a:defRPr sz="2175" b="0">
                <a:solidFill>
                  <a:srgbClr val="182D44"/>
                </a:solidFill>
                <a:latin typeface="Arial"/>
                <a:ea typeface="Arial"/>
                <a:cs typeface="Arial"/>
              </a:defRPr>
            </a:lvl9pPr>
          </a:lstStyle>
          <a:p xmlns:a="http://schemas.openxmlformats.org/drawingml/2006/main">
            <a:pPr>
              <a:defRPr sz="2175" b="0">
                <a:solidFill>
                  <a:srgbClr val="182D44"/>
                </a:solidFill>
                <a:latin typeface="Arial"/>
                <a:ea typeface="Arial"/>
                <a:cs typeface="Arial"/>
              </a:defRPr>
            </a:pPr>
            <a:r>
              <a:rPr sz="2175" b="0">
                <a:solidFill>
                  <a:srgbClr val="182D44"/>
                </a:solidFill>
                <a:latin typeface="Arial"/>
                <a:ea typeface="Arial"/>
                <a:cs typeface="Arial"/>
              </a:rPr>
              <a:t>One split and one seed do not establish robust superiority.</a:t>
            </a:r>
          </a:p>
        </p:txBody>
      </p:sp>
      <p:sp>
        <p:nvSpPr>
          <p:cNvPr id="5" name="">
            <a:extLst xmlns:a="http://schemas.openxmlformats.org/drawingml/2006/main">
              <a:ext uri="{FF2B5EF4-FFF2-40B4-BE49-F238E27FC236}">
                <a16:creationId xmlns:a16="http://schemas.microsoft.com/office/drawing/2014/main" id="{AA1FC698-D866-4859-8000-901DBCB32637}"/>
              </a:ext>
            </a:extLst>
          </p:cNvPr>
          <p:cNvSpPr>
            <a:spLocks xmlns:a="http://schemas.openxmlformats.org/drawingml/2006/main" noGrp="1"/>
          </p:cNvSpPr>
          <p:nvPr/>
        </p:nvSpPr>
        <p:spPr>
          <a:xfrm xmlns:a="http://schemas.openxmlformats.org/drawingml/2006/main">
            <a:off x="714375" y="45720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D44"/>
                </a:solidFill>
                <a:latin typeface="Arial"/>
                <a:ea typeface="Arial"/>
                <a:cs typeface="Arial"/>
              </a:defRPr>
            </a:defPPr>
            <a:lvl1pPr>
              <a:defRPr sz="2175" b="0">
                <a:solidFill>
                  <a:srgbClr val="182D44"/>
                </a:solidFill>
                <a:latin typeface="Arial"/>
                <a:ea typeface="Arial"/>
                <a:cs typeface="Arial"/>
              </a:defRPr>
            </a:lvl1pPr>
            <a:lvl2pPr>
              <a:defRPr sz="2175" b="0">
                <a:solidFill>
                  <a:srgbClr val="182D44"/>
                </a:solidFill>
                <a:latin typeface="Arial"/>
                <a:ea typeface="Arial"/>
                <a:cs typeface="Arial"/>
              </a:defRPr>
            </a:lvl2pPr>
            <a:lvl3pPr>
              <a:defRPr sz="2175" b="0">
                <a:solidFill>
                  <a:srgbClr val="182D44"/>
                </a:solidFill>
                <a:latin typeface="Arial"/>
                <a:ea typeface="Arial"/>
                <a:cs typeface="Arial"/>
              </a:defRPr>
            </a:lvl3pPr>
            <a:lvl4pPr>
              <a:defRPr sz="2175" b="0">
                <a:solidFill>
                  <a:srgbClr val="182D44"/>
                </a:solidFill>
                <a:latin typeface="Arial"/>
                <a:ea typeface="Arial"/>
                <a:cs typeface="Arial"/>
              </a:defRPr>
            </a:lvl4pPr>
            <a:lvl5pPr>
              <a:defRPr sz="2175" b="0">
                <a:solidFill>
                  <a:srgbClr val="182D44"/>
                </a:solidFill>
                <a:latin typeface="Arial"/>
                <a:ea typeface="Arial"/>
                <a:cs typeface="Arial"/>
              </a:defRPr>
            </a:lvl5pPr>
            <a:lvl6pPr>
              <a:defRPr sz="2175" b="0">
                <a:solidFill>
                  <a:srgbClr val="182D44"/>
                </a:solidFill>
                <a:latin typeface="Arial"/>
                <a:ea typeface="Arial"/>
                <a:cs typeface="Arial"/>
              </a:defRPr>
            </a:lvl6pPr>
            <a:lvl7pPr>
              <a:defRPr sz="2175" b="0">
                <a:solidFill>
                  <a:srgbClr val="182D44"/>
                </a:solidFill>
                <a:latin typeface="Arial"/>
                <a:ea typeface="Arial"/>
                <a:cs typeface="Arial"/>
              </a:defRPr>
            </a:lvl7pPr>
            <a:lvl8pPr>
              <a:defRPr sz="2175" b="0">
                <a:solidFill>
                  <a:srgbClr val="182D44"/>
                </a:solidFill>
                <a:latin typeface="Arial"/>
                <a:ea typeface="Arial"/>
                <a:cs typeface="Arial"/>
              </a:defRPr>
            </a:lvl8pPr>
            <a:lvl9pPr>
              <a:defRPr sz="2175" b="0">
                <a:solidFill>
                  <a:srgbClr val="182D44"/>
                </a:solidFill>
                <a:latin typeface="Arial"/>
                <a:ea typeface="Arial"/>
                <a:cs typeface="Arial"/>
              </a:defRPr>
            </a:lvl9pPr>
          </a:lstStyle>
          <a:p xmlns:a="http://schemas.openxmlformats.org/drawingml/2006/main">
            <a:pPr>
              <a:defRPr sz="2175" b="0">
                <a:solidFill>
                  <a:srgbClr val="182D44"/>
                </a:solidFill>
                <a:latin typeface="Arial"/>
                <a:ea typeface="Arial"/>
                <a:cs typeface="Arial"/>
              </a:defRPr>
            </a:pPr>
            <a:r>
              <a:rPr sz="2175" b="0">
                <a:solidFill>
                  <a:srgbClr val="182D44"/>
                </a:solidFill>
                <a:latin typeface="Arial"/>
                <a:ea typeface="Arial"/>
                <a:cs typeface="Arial"/>
              </a:rPr>
              <a:t>Serving latency and merged adapters need separate tests.</a:t>
            </a:r>
          </a:p>
        </p:txBody>
      </p:sp>
    </p:spTree>
    <p:extLst>
      <p:ext uri="{BB962C8B-B14F-4D97-AF65-F5344CB8AC3E}">
        <p14:creationId xmlns:p14="http://schemas.microsoft.com/office/powerpoint/2010/main" val="17280483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2026-10-21T22:11:35.3790000Z</dcterms:created>
  <dcterms:modified xsi:type="dcterms:W3CDTF">2026-10-21T22:11:35.3790000Z</dcterms:modified>
</coreProperties>
</file>